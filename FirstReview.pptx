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ProcureSight First Review presentation.</a:t>
            </a:r>
          </a:p>
          <a:p>
            <a:r>
              <a:t>Replace the supervisor and roll-number placeholders before submission.</a:t>
            </a:r>
          </a:p>
          <a:p>
            <a:r>
              <a:t>[Sources]</a:t>
            </a:r>
          </a:p>
          <a:p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/Users/ani81/Documents/Final Year Project/README.md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papers were selected using the 2024-2026 IEEE journal-only eligibility rule.</a:t>
            </a:r>
          </a:p>
          <a:p>
            <a:r>
              <a:t>[Sources]</a:t>
            </a:r>
          </a:p>
          <a:p>
            <a:r>
              <a:t>- https://doi.org/10.1109/ACCESS.2024.3467059</a:t>
            </a:r>
          </a:p>
          <a:p>
            <a:r>
              <a:t>- https://doi.org/10.1109/ACCESS.2024.3525362</a:t>
            </a:r>
          </a:p>
          <a:p>
            <a:r>
              <a:t>- https://doi.org/10.1109/ACCESS.2024.3416391</a:t>
            </a:r>
          </a:p>
          <a:p>
            <a:r>
              <a:t>- https://doi.org/10.1109/ACCESS.2025.3596799</a:t>
            </a:r>
          </a:p>
          <a:p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IEEE Access journal article; conference papers excluded.</a:t>
            </a:r>
          </a:p>
          <a:p>
            <a:r>
              <a:t>[Sources]</a:t>
            </a:r>
          </a:p>
          <a:p>
            <a:r>
              <a:t>- https://doi.org/10.1109/ACCESS.2024.3467059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IEEE Access journal article; conference papers excluded.</a:t>
            </a:r>
          </a:p>
          <a:p>
            <a:r>
              <a:t>[Sources]</a:t>
            </a:r>
          </a:p>
          <a:p>
            <a:r>
              <a:t>- https://doi.org/10.1109/ACCESS.2024.3525362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IEEE Access journal article; conference papers excluded.</a:t>
            </a:r>
          </a:p>
          <a:p>
            <a:r>
              <a:t>[Sources]</a:t>
            </a:r>
          </a:p>
          <a:p>
            <a:r>
              <a:t>- https://doi.org/10.1109/ACCESS.2024.3416391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IEEE Access journal article; conference papers excluded.</a:t>
            </a:r>
          </a:p>
          <a:p>
            <a:r>
              <a:t>[Sources]</a:t>
            </a:r>
          </a:p>
          <a:p>
            <a:r>
              <a:t>- https://doi.org/10.1109/ACCESS.2025.3596799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IEEE Access journal article; conference papers excluded.</a:t>
            </a:r>
          </a:p>
          <a:p>
            <a:r>
              <a:t>[Sources]</a:t>
            </a:r>
          </a:p>
          <a:p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https://doi.org/10.1109/ACCESS.2024.3467059</a:t>
            </a:r>
          </a:p>
          <a:p>
            <a:r>
              <a:t>- https://doi.org/10.1109/ACCESS.2024.3525362</a:t>
            </a:r>
          </a:p>
          <a:p>
            <a:r>
              <a:t>- https://doi.org/10.1109/ACCESS.2024.3416391</a:t>
            </a:r>
          </a:p>
          <a:p>
            <a:r>
              <a:t>- https://doi.org/10.1109/ACCESS.2025.3596799</a:t>
            </a:r>
          </a:p>
          <a:p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https://doi.org/10.1109/ACCESS.2024.3467059</a:t>
            </a:r>
          </a:p>
          <a:p>
            <a:r>
              <a:t>- https://doi.org/10.1109/ACCESS.2024.3525362</a:t>
            </a:r>
          </a:p>
          <a:p>
            <a:r>
              <a:t>- https://doi.org/10.1109/ACCESS.2024.3416391</a:t>
            </a:r>
          </a:p>
          <a:p>
            <a:r>
              <a:t>- https://doi.org/10.1109/ACCESS.2025.3596799</a:t>
            </a:r>
          </a:p>
          <a:p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https://doi.org/10.1109/ACCESS.2024.3467059</a:t>
            </a:r>
          </a:p>
          <a:p>
            <a:r>
              <a:t>- https://doi.org/10.1109/ACCESS.2024.3525362</a:t>
            </a:r>
          </a:p>
          <a:p>
            <a:r>
              <a:t>- https://doi.org/10.1109/ACCESS.2024.3416391</a:t>
            </a:r>
          </a:p>
          <a:p>
            <a:r>
              <a:t>- https://doi.org/10.1109/ACCESS.2025.3596799</a:t>
            </a:r>
          </a:p>
          <a:p>
            <a:r>
              <a:t>- https://doi.org/10.1109/ACCESS.2026.3694980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Grp="1"/>
          </p:cNvSpPr>
          <p:nvPr/>
        </p:nvSpPr>
        <p:spPr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/>
          <a:lstStyle/>
          <a:p>
            <a:endParaRPr sz="1800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00D40E0F-0195-446A-84A2-FF7DB0DF9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buNone/>
              <a:defRPr sz="4000"/>
            </a:lvl1pPr>
          </a:lstStyle>
          <a:p>
            <a:r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6CF682-C4D2-482D-83AC-8969458A7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/>
              <a:buNone/>
              <a:defRPr sz="2800"/>
            </a:lvl1pPr>
          </a:lstStyle>
          <a:p>
            <a:r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D8F95DA7-9E0E-467D-A139-0471DC1777C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29D19-E5F1-4727-961C-169523DA3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457F-0716-4763-BCA4-EB83C9DE1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BDC2143B-610F-499C-A392-DFFBE135A7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9B53-47C9-48B6-8537-5F568A500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D8C5D-DEC2-4CD6-84C7-8D5001D53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575C213C-AC18-4D5A-BA73-4550FF50B84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D9F1-B400-4934-9305-14618764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8D57A-F232-480B-B9C2-604E4715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972DC-0F60-41EE-BAD9-0FA8B215167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7A8ED4EA-E359-45F1-B86A-A40772B25C2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D07CA-4AE6-4A8F-A979-97F3E180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BCD9F-0458-477A-B8A6-87289502B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6084C-2187-4446-89BA-C7497E84F29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7B1DC-549E-4C33-94B2-0D3F9E36FE5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CA10D-6511-4B12-9097-EB1CD51077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637AD66-1F60-49BE-A2E9-D91D10CB91F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C7FC7-E1B0-474D-999C-409269C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F583B680-F650-469F-A231-392F163461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DD537315-F462-4C74-88B4-A900525A3FA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62ED-8470-4AE5-9596-2D8AE95B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D3FE-13C3-4AF3-ABD0-9C3277E2F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77807-57D6-4861-94B4-026E024E8B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379B2829-DA13-4801-8FBD-6D5729CB959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36CB-42C6-470E-8492-347244D6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D09E0-2E7E-49E9-B527-832FA83E2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9743F-78C8-43A2-9A7E-FD2CB09BB71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B5B0EEF8-84AE-4BCB-9844-5B22523396C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D13E-39F7-4546-9082-8D1C5814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121AA-FC00-4572-AB73-EC0A56940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5367E6EB-B6CA-430B-8761-75C737CF7AF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E1BFE4-F959-4AFD-8A88-E30C3F1EC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40E66-E510-4AAD-8F1E-BCC10B7CC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3031276A-AAE7-4DAF-B5DC-CD9EE96B703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Grp="1"/>
          </p:cNvSpPr>
          <p:nvPr/>
        </p:nvSpPr>
        <p:spPr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/>
          <a:lstStyle/>
          <a:p>
            <a:endParaRPr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Grp="1"/>
          </p:cNvSpPr>
          <p:nvPr/>
        </p:nvSpPr>
        <p:spPr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</a:ln>
        </p:spPr>
        <p:txBody>
          <a:bodyPr/>
          <a:lstStyle/>
          <a:p>
            <a:endParaRPr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>
              <a:buNone/>
              <a:defRPr sz="1200"/>
            </a:lvl1pPr>
          </a:lstStyle>
          <a:p>
            <a:pPr>
              <a:buNone/>
            </a:pPr>
            <a:r>
              <a:t>Zeroth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algn="ctr">
              <a:buNone/>
              <a:defRPr sz="1200"/>
            </a:lvl1pPr>
          </a:lstStyle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algn="r">
              <a:buNone/>
              <a:defRPr sz="1200"/>
            </a:lvl1pPr>
          </a:lstStyle>
          <a:p>
            <a:pPr>
              <a:buNone/>
            </a:pPr>
            <a:fld id="{756AFA5A-A15D-402B-9810-66A481E9819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+mj-lt"/>
          <a:ea typeface="+mj-lt"/>
          <a:cs typeface="+mj-lt"/>
        </a:defRPr>
      </a:lvl1pPr>
      <a:lvl2pPr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2pPr>
      <a:lvl3pPr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3pPr>
      <a:lvl4pPr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4pPr>
      <a:lvl5pPr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5pPr>
      <a:lvl6pPr marL="4572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6pPr>
      <a:lvl7pPr marL="9144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7pPr>
      <a:lvl8pPr marL="13716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8pPr>
      <a:lvl9pPr marL="1828800" algn="l">
        <a:spcBef>
          <a:spcPct val="0"/>
        </a:spcBef>
        <a:spcAft>
          <a:spcPct val="0"/>
        </a:spcAft>
        <a:buNone/>
        <a:defRPr sz="3800">
          <a:solidFill>
            <a:schemeClr val="tx2"/>
          </a:solidFill>
          <a:latin typeface="Verdana"/>
          <a:ea typeface="Verdana"/>
          <a:cs typeface="Verdana"/>
        </a:defRPr>
      </a:lvl9pPr>
    </p:titleStyle>
    <p:bodyStyle>
      <a:lvl1pPr marL="469900" indent="-469900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o"/>
        <a:defRPr sz="3000">
          <a:solidFill>
            <a:schemeClr val="tx1"/>
          </a:solidFill>
          <a:latin typeface="+mn-lt"/>
          <a:ea typeface="+mn-lt"/>
          <a:cs typeface="+mn-lt"/>
        </a:defRPr>
      </a:lvl1pPr>
      <a:lvl2pPr marL="908050" indent="-436563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n"/>
        <a:defRPr sz="2600">
          <a:solidFill>
            <a:schemeClr val="tx1"/>
          </a:solidFill>
          <a:latin typeface="+mn-lt"/>
          <a:ea typeface="+mn-lt"/>
          <a:cs typeface="+mn-lt"/>
        </a:defRPr>
      </a:lvl2pPr>
      <a:lvl3pPr marL="1304925" indent="-395288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o"/>
        <a:defRPr sz="2300">
          <a:solidFill>
            <a:schemeClr val="tx1"/>
          </a:solidFill>
          <a:latin typeface="+mn-lt"/>
          <a:ea typeface="+mn-lt"/>
          <a:cs typeface="+mn-lt"/>
        </a:defRPr>
      </a:lvl3pPr>
      <a:lvl4pPr marL="1693863" indent="-387350" algn="l">
        <a:spcBef>
          <a:spcPct val="20000"/>
        </a:spcBef>
        <a:spcAft>
          <a:spcPct val="0"/>
        </a:spcAft>
        <a:buClr>
          <a:schemeClr val="accent2"/>
        </a:buClr>
        <a:buFont typeface="Wingdings"/>
        <a:buChar char="n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939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511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30083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655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922713" indent="-398463" algn="l">
        <a:spcBef>
          <a:spcPct val="25000"/>
        </a:spcBef>
        <a:spcAft>
          <a:spcPct val="0"/>
        </a:spcAft>
        <a:buClr>
          <a:schemeClr val="accent2"/>
        </a:buClr>
        <a:buFont typeface="Wingdings"/>
        <a:buChar char="§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1491" y="64077"/>
            <a:ext cx="1000125" cy="1143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>
            <a:spLocks noGrp="1"/>
          </p:cNvSpPr>
          <p:nvPr/>
        </p:nvSpPr>
        <p:spPr>
          <a:xfrm>
            <a:off x="708891" y="3084654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 fontScale="84503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4000" b="1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ProcureSight</a:t>
            </a:r>
            <a:endParaRPr sz="4000" b="1" dirty="0">
              <a:solidFill>
                <a:srgbClr val="7030A0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sz="4000" b="1" dirty="0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AI-Based Procurement Spend Analytics</a:t>
            </a:r>
          </a:p>
          <a:p>
            <a:r>
              <a:rPr sz="4000" b="1" dirty="0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 SDG 12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>
            <a:spLocks noGrp="1"/>
          </p:cNvSpPr>
          <p:nvPr/>
        </p:nvSpPr>
        <p:spPr>
          <a:xfrm>
            <a:off x="962889" y="5183902"/>
            <a:ext cx="3429000" cy="120032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Supervisor: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Mrs. Kaaviya</a:t>
            </a:r>
            <a:r>
              <a:rPr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Associate Professor</a:t>
            </a:r>
            <a:endParaRPr sz="24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>
            <a:spLocks noGrp="1"/>
          </p:cNvSpPr>
          <p:nvPr/>
        </p:nvSpPr>
        <p:spPr>
          <a:xfrm>
            <a:off x="7800112" y="5183902"/>
            <a:ext cx="3505200" cy="15696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Team</a:t>
            </a:r>
            <a:r>
              <a:rPr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lang="en-US" sz="24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Anirudh |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230701029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Akshay V | 230701022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sz="24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>
            <a:spLocks noGrp="1"/>
          </p:cNvSpPr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25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pic>
        <p:nvPicPr>
          <p:cNvPr id="23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64077"/>
            <a:ext cx="3756758" cy="121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" indent="-12">
              <a:buChar char="•"/>
            </a:pPr>
            <a:r>
              <a:t>Procurement decisions depend on a clear view of spend, suppliers, contracts, quality and delivery.</a:t>
            </a:r>
          </a:p>
          <a:p>
            <a:pPr marL="22" indent="-12">
              <a:buChar char="•"/>
            </a:pPr>
            <a:r>
              <a:t>Fragmented exports make analysis slow, inconsistent and difficult to audit.</a:t>
            </a:r>
          </a:p>
          <a:p>
            <a:pPr marL="22" indent="-12">
              <a:buChar char="•"/>
            </a:pPr>
            <a:r>
              <a:t>ProcureSight unifies procurement data, calculates explainable cost opportunities and uses AI only to communicate verified findings.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DC03-923D-4213-930D-3AF1F5AD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PROJECT OVERVIEW &amp; OBJECTIVES/SCOPE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9CBC8-2C97-4FF2-93D4-4BBC39ECF6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35582-96D8-4CC6-BCC2-7D4D0C1877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E3463-C83A-463B-8998-212AA352DC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t>3</a:t>
            </a:fld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5E2B662-9786-4797-88B4-C9BC1152E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367" y="1600000"/>
            <a:ext cx="10271266" cy="26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 marL="22" indent="-12">
              <a:buChar char="•"/>
            </a:pPr>
            <a:r>
              <a:t>Goal: deliver a procurement analytics and cost-opportunity platform.</a:t>
            </a:r>
          </a:p>
          <a:p>
            <a:pPr marL="22" indent="-12">
              <a:buChar char="•"/>
            </a:pPr>
            <a:r>
              <a:t>Objectives: validated ingestion, spend and supplier KPIs, price benchmarks and explainable opportunities.</a:t>
            </a:r>
          </a:p>
          <a:p>
            <a:pPr marL="22" indent="-12">
              <a:buChar char="•"/>
            </a:pPr>
            <a:r>
              <a:t>Scope: PostgreSQL, FastAPI, React and guarded AI recommendations.</a:t>
            </a:r>
          </a:p>
          <a:p>
            <a:pPr marL="22" indent="-12">
              <a:buChar char="•"/>
            </a:pPr>
            <a:r>
              <a:t>Excludes: forecasting, anomaly detection, external prices and autonomous purchasing.</a:t>
            </a:r>
          </a:p>
        </p:txBody>
      </p:sp>
    </p:spTree>
    <p:extLst>
      <p:ext uri="{BB962C8B-B14F-4D97-AF65-F5344CB8AC3E}">
        <p14:creationId xmlns:p14="http://schemas.microsoft.com/office/powerpoint/2010/main" val="1744866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EXISTING SYSTEM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" indent="-12">
              <a:buChar char="•"/>
            </a:pPr>
            <a:r>
              <a:t>ERP exports and spreadsheets provide fragmented or retrospective procurement views.</a:t>
            </a:r>
          </a:p>
          <a:p>
            <a:pPr marL="22" indent="-12">
              <a:buChar char="•"/>
            </a:pPr>
            <a:r>
              <a:t>Commercial suites can be costly and opaque for academic evaluation.</a:t>
            </a:r>
          </a:p>
          <a:p>
            <a:pPr marL="22" indent="-12">
              <a:buChar char="•"/>
            </a:pPr>
            <a:r>
              <a:t>Manual analysis struggles to connect price, contract, quality and delivery signals.</a:t>
            </a:r>
          </a:p>
          <a:p>
            <a:pPr marL="22" indent="-12">
              <a:buChar char="•"/>
            </a:pPr>
            <a:r>
              <a:t>Static dashboards show totals but rarely explain how cost opportunities were derived.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300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STATEMENT 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" indent="-12">
              <a:buChar char="•"/>
            </a:pPr>
            <a:r>
              <a:t>Procurement teams lack one auditable view of price variance, contract leakage, concentration and operational risk.</a:t>
            </a:r>
          </a:p>
          <a:p>
            <a:pPr marL="22" indent="-12">
              <a:buChar char="•"/>
            </a:pPr>
            <a:r>
              <a:t>Spreadsheet reviews are slow and inconsistent; conventional dashboards show totals without explaining or prioritizing opportunities.</a:t>
            </a:r>
          </a:p>
          <a:p>
            <a:pPr marL="22" indent="-12">
              <a:buChar char="•"/>
            </a:pPr>
            <a:r>
              <a:t>AI advice is unsafe unless it is grounded in verified calculations and human review.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METHODOLOGY &amp; SYSTEM ARCHITECTURE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6</a:t>
            </a:fld>
            <a:endParaRPr/>
          </a:p>
        </p:txBody>
      </p:sp>
      <p:sp>
        <p:nvSpPr>
          <p:cNvPr id="7" name="method-label">
            <a:extLst>
              <a:ext uri="{FF2B5EF4-FFF2-40B4-BE49-F238E27FC236}">
                <a16:creationId xmlns:a16="http://schemas.microsoft.com/office/drawing/2014/main" id="{0311DC54-C302-4240-B06E-1F9A03A5CC69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METHODOLOGY</a:t>
            </a:r>
          </a:p>
        </p:txBody>
      </p:sp>
      <p:sp>
        <p:nvSpPr>
          <p:cNvPr id="8" name="method-caption">
            <a:extLst>
              <a:ext uri="{FF2B5EF4-FFF2-40B4-BE49-F238E27FC236}">
                <a16:creationId xmlns:a16="http://schemas.microsoft.com/office/drawing/2014/main" id="{16DF986A-C0FD-49A9-8D21-2283ABB4B7D5}"/>
              </a:ext>
            </a:extLst>
          </p:cNvPr>
          <p:cNvSpPr>
            <a:spLocks noGrp="1"/>
          </p:cNvSpPr>
          <p:nvPr/>
        </p:nvSpPr>
        <p:spPr>
          <a:xfrm>
            <a:off x="2571750" y="17716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50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A traceable pipeline from raw records to procurement action</a:t>
            </a:r>
          </a:p>
        </p:txBody>
      </p:sp>
      <p:sp>
        <p:nvSpPr>
          <p:cNvPr id="9" name="method-edge-1">
            <a:extLst>
              <a:ext uri="{FF2B5EF4-FFF2-40B4-BE49-F238E27FC236}">
                <a16:creationId xmlns:a16="http://schemas.microsoft.com/office/drawing/2014/main" id="{AF270023-D9F9-4CBF-B454-9BBB75B0E0FB}"/>
              </a:ext>
            </a:extLst>
          </p:cNvPr>
          <p:cNvSpPr>
            <a:spLocks noGrp="1"/>
          </p:cNvSpPr>
          <p:nvPr/>
        </p:nvSpPr>
        <p:spPr>
          <a:xfrm>
            <a:off x="2514600" y="2286000"/>
            <a:ext cx="342900" cy="95250"/>
          </a:xfrm>
          <a:prstGeom prst="rightArrow">
            <a:avLst/>
          </a:prstGeom>
          <a:solidFill>
            <a:srgbClr val="A3B2C1"/>
          </a:solidFill>
          <a:ln w="0">
            <a:noFill/>
            <a:prstDash val="solid"/>
          </a:ln>
        </p:spPr>
      </p:sp>
      <p:sp>
        <p:nvSpPr>
          <p:cNvPr id="10" name="method-edge-2">
            <a:extLst>
              <a:ext uri="{FF2B5EF4-FFF2-40B4-BE49-F238E27FC236}">
                <a16:creationId xmlns:a16="http://schemas.microsoft.com/office/drawing/2014/main" id="{F1C1BE2D-92C8-4A9E-801D-29FE888091FE}"/>
              </a:ext>
            </a:extLst>
          </p:cNvPr>
          <p:cNvSpPr>
            <a:spLocks noGrp="1"/>
          </p:cNvSpPr>
          <p:nvPr/>
        </p:nvSpPr>
        <p:spPr>
          <a:xfrm>
            <a:off x="4305300" y="2286000"/>
            <a:ext cx="342900" cy="95250"/>
          </a:xfrm>
          <a:prstGeom prst="rightArrow">
            <a:avLst/>
          </a:prstGeom>
          <a:solidFill>
            <a:srgbClr val="A3B2C1"/>
          </a:solidFill>
          <a:ln w="0">
            <a:noFill/>
            <a:prstDash val="solid"/>
          </a:ln>
        </p:spPr>
      </p:sp>
      <p:sp>
        <p:nvSpPr>
          <p:cNvPr id="11" name="method-edge-3">
            <a:extLst>
              <a:ext uri="{FF2B5EF4-FFF2-40B4-BE49-F238E27FC236}">
                <a16:creationId xmlns:a16="http://schemas.microsoft.com/office/drawing/2014/main" id="{5A0D2E6E-4257-4D7B-BD1A-9B696227D1AB}"/>
              </a:ext>
            </a:extLst>
          </p:cNvPr>
          <p:cNvSpPr>
            <a:spLocks noGrp="1"/>
          </p:cNvSpPr>
          <p:nvPr/>
        </p:nvSpPr>
        <p:spPr>
          <a:xfrm>
            <a:off x="6096000" y="2286000"/>
            <a:ext cx="342900" cy="95250"/>
          </a:xfrm>
          <a:prstGeom prst="rightArrow">
            <a:avLst/>
          </a:prstGeom>
          <a:solidFill>
            <a:srgbClr val="A3B2C1"/>
          </a:solidFill>
          <a:ln w="0">
            <a:noFill/>
            <a:prstDash val="solid"/>
          </a:ln>
        </p:spPr>
      </p:sp>
      <p:sp>
        <p:nvSpPr>
          <p:cNvPr id="12" name="method-edge-4">
            <a:extLst>
              <a:ext uri="{FF2B5EF4-FFF2-40B4-BE49-F238E27FC236}">
                <a16:creationId xmlns:a16="http://schemas.microsoft.com/office/drawing/2014/main" id="{6574D5E0-E87A-44BB-A1FE-27A8E858443A}"/>
              </a:ext>
            </a:extLst>
          </p:cNvPr>
          <p:cNvSpPr>
            <a:spLocks noGrp="1"/>
          </p:cNvSpPr>
          <p:nvPr/>
        </p:nvSpPr>
        <p:spPr>
          <a:xfrm>
            <a:off x="7886700" y="2286000"/>
            <a:ext cx="342900" cy="95250"/>
          </a:xfrm>
          <a:prstGeom prst="rightArrow">
            <a:avLst/>
          </a:prstGeom>
          <a:solidFill>
            <a:srgbClr val="A3B2C1"/>
          </a:solidFill>
          <a:ln w="0">
            <a:noFill/>
            <a:prstDash val="solid"/>
          </a:ln>
        </p:spPr>
      </p:sp>
      <p:sp>
        <p:nvSpPr>
          <p:cNvPr id="13" name="method-edge-5">
            <a:extLst>
              <a:ext uri="{FF2B5EF4-FFF2-40B4-BE49-F238E27FC236}">
                <a16:creationId xmlns:a16="http://schemas.microsoft.com/office/drawing/2014/main" id="{78848DF2-E6B4-4FB3-9077-82DD2445E5A1}"/>
              </a:ext>
            </a:extLst>
          </p:cNvPr>
          <p:cNvSpPr>
            <a:spLocks noGrp="1"/>
          </p:cNvSpPr>
          <p:nvPr/>
        </p:nvSpPr>
        <p:spPr>
          <a:xfrm>
            <a:off x="9677400" y="2286000"/>
            <a:ext cx="342900" cy="95250"/>
          </a:xfrm>
          <a:prstGeom prst="rightArrow">
            <a:avLst/>
          </a:prstGeom>
          <a:solidFill>
            <a:srgbClr val="A3B2C1"/>
          </a:solidFill>
          <a:ln w="0">
            <a:noFill/>
            <a:prstDash val="solid"/>
          </a:ln>
        </p:spPr>
      </p:sp>
      <p:sp>
        <p:nvSpPr>
          <p:cNvPr id="14" name="method-step-01">
            <a:extLst>
              <a:ext uri="{FF2B5EF4-FFF2-40B4-BE49-F238E27FC236}">
                <a16:creationId xmlns:a16="http://schemas.microsoft.com/office/drawing/2014/main" id="{39BFF3D1-B66E-4C8D-A8CF-BB445A1464A1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15" name="method-title-01">
            <a:extLst>
              <a:ext uri="{FF2B5EF4-FFF2-40B4-BE49-F238E27FC236}">
                <a16:creationId xmlns:a16="http://schemas.microsoft.com/office/drawing/2014/main" id="{3CC648FA-7265-48BC-8603-1128FB7EE826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VALIDATE</a:t>
            </a:r>
          </a:p>
        </p:txBody>
      </p:sp>
      <p:sp>
        <p:nvSpPr>
          <p:cNvPr id="16" name="method-detail-01">
            <a:extLst>
              <a:ext uri="{FF2B5EF4-FFF2-40B4-BE49-F238E27FC236}">
                <a16:creationId xmlns:a16="http://schemas.microsoft.com/office/drawing/2014/main" id="{25DD163C-0B14-443D-8E72-2FAD22B61D00}"/>
              </a:ext>
            </a:extLst>
          </p:cNvPr>
          <p:cNvSpPr>
            <a:spLocks noGrp="1"/>
          </p:cNvSpPr>
          <p:nvPr/>
        </p:nvSpPr>
        <p:spPr>
          <a:xfrm>
            <a:off x="1390650" y="233362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Schema + totals</a:t>
            </a:r>
          </a:p>
        </p:txBody>
      </p:sp>
      <p:sp>
        <p:nvSpPr>
          <p:cNvPr id="17" name="method-step-02">
            <a:extLst>
              <a:ext uri="{FF2B5EF4-FFF2-40B4-BE49-F238E27FC236}">
                <a16:creationId xmlns:a16="http://schemas.microsoft.com/office/drawing/2014/main" id="{9922C3A8-E857-48A3-A3E2-93CFE8518260}"/>
              </a:ext>
            </a:extLst>
          </p:cNvPr>
          <p:cNvSpPr>
            <a:spLocks noGrp="1"/>
          </p:cNvSpPr>
          <p:nvPr/>
        </p:nvSpPr>
        <p:spPr>
          <a:xfrm>
            <a:off x="2667000" y="21145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8" name="method-title-02">
            <a:extLst>
              <a:ext uri="{FF2B5EF4-FFF2-40B4-BE49-F238E27FC236}">
                <a16:creationId xmlns:a16="http://schemas.microsoft.com/office/drawing/2014/main" id="{9D0232AD-57BF-4C0A-85CF-1395523222A3}"/>
              </a:ext>
            </a:extLst>
          </p:cNvPr>
          <p:cNvSpPr>
            <a:spLocks noGrp="1"/>
          </p:cNvSpPr>
          <p:nvPr/>
        </p:nvSpPr>
        <p:spPr>
          <a:xfrm>
            <a:off x="3181350" y="21240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NORMALIZE</a:t>
            </a:r>
          </a:p>
        </p:txBody>
      </p:sp>
      <p:sp>
        <p:nvSpPr>
          <p:cNvPr id="19" name="method-detail-02">
            <a:extLst>
              <a:ext uri="{FF2B5EF4-FFF2-40B4-BE49-F238E27FC236}">
                <a16:creationId xmlns:a16="http://schemas.microsoft.com/office/drawing/2014/main" id="{6A89F120-C8C2-4487-8094-D47FEBE36284}"/>
              </a:ext>
            </a:extLst>
          </p:cNvPr>
          <p:cNvSpPr>
            <a:spLocks noGrp="1"/>
          </p:cNvSpPr>
          <p:nvPr/>
        </p:nvSpPr>
        <p:spPr>
          <a:xfrm>
            <a:off x="3181350" y="233362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Clean dimensions</a:t>
            </a:r>
          </a:p>
        </p:txBody>
      </p:sp>
      <p:sp>
        <p:nvSpPr>
          <p:cNvPr id="20" name="method-step-03">
            <a:extLst>
              <a:ext uri="{FF2B5EF4-FFF2-40B4-BE49-F238E27FC236}">
                <a16:creationId xmlns:a16="http://schemas.microsoft.com/office/drawing/2014/main" id="{78C33BB8-BD0E-46CC-A9AB-87CBEC2B2F3B}"/>
              </a:ext>
            </a:extLst>
          </p:cNvPr>
          <p:cNvSpPr>
            <a:spLocks noGrp="1"/>
          </p:cNvSpPr>
          <p:nvPr/>
        </p:nvSpPr>
        <p:spPr>
          <a:xfrm>
            <a:off x="4457700" y="21145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21" name="method-title-03">
            <a:extLst>
              <a:ext uri="{FF2B5EF4-FFF2-40B4-BE49-F238E27FC236}">
                <a16:creationId xmlns:a16="http://schemas.microsoft.com/office/drawing/2014/main" id="{7D9AE2A3-910F-4ED0-A143-83BBE5C1C5DE}"/>
              </a:ext>
            </a:extLst>
          </p:cNvPr>
          <p:cNvSpPr>
            <a:spLocks noGrp="1"/>
          </p:cNvSpPr>
          <p:nvPr/>
        </p:nvSpPr>
        <p:spPr>
          <a:xfrm>
            <a:off x="4972050" y="21240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AGGREGATE</a:t>
            </a:r>
          </a:p>
        </p:txBody>
      </p:sp>
      <p:sp>
        <p:nvSpPr>
          <p:cNvPr id="22" name="method-detail-03">
            <a:extLst>
              <a:ext uri="{FF2B5EF4-FFF2-40B4-BE49-F238E27FC236}">
                <a16:creationId xmlns:a16="http://schemas.microsoft.com/office/drawing/2014/main" id="{6886CA70-7168-45BE-9EB7-9E8BC238965E}"/>
              </a:ext>
            </a:extLst>
          </p:cNvPr>
          <p:cNvSpPr>
            <a:spLocks noGrp="1"/>
          </p:cNvSpPr>
          <p:nvPr/>
        </p:nvSpPr>
        <p:spPr>
          <a:xfrm>
            <a:off x="4972050" y="233362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Spend + performance</a:t>
            </a:r>
          </a:p>
        </p:txBody>
      </p:sp>
      <p:sp>
        <p:nvSpPr>
          <p:cNvPr id="23" name="method-step-04">
            <a:extLst>
              <a:ext uri="{FF2B5EF4-FFF2-40B4-BE49-F238E27FC236}">
                <a16:creationId xmlns:a16="http://schemas.microsoft.com/office/drawing/2014/main" id="{AF820B93-C039-4765-8BCD-702D4A5E861D}"/>
              </a:ext>
            </a:extLst>
          </p:cNvPr>
          <p:cNvSpPr>
            <a:spLocks noGrp="1"/>
          </p:cNvSpPr>
          <p:nvPr/>
        </p:nvSpPr>
        <p:spPr>
          <a:xfrm>
            <a:off x="6248400" y="21145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4" name="method-title-04">
            <a:extLst>
              <a:ext uri="{FF2B5EF4-FFF2-40B4-BE49-F238E27FC236}">
                <a16:creationId xmlns:a16="http://schemas.microsoft.com/office/drawing/2014/main" id="{1DC98961-E917-4A0C-8969-3C667DD0CDAA}"/>
              </a:ext>
            </a:extLst>
          </p:cNvPr>
          <p:cNvSpPr>
            <a:spLocks noGrp="1"/>
          </p:cNvSpPr>
          <p:nvPr/>
        </p:nvSpPr>
        <p:spPr>
          <a:xfrm>
            <a:off x="6762750" y="21240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BENCHMARK</a:t>
            </a:r>
          </a:p>
        </p:txBody>
      </p:sp>
      <p:sp>
        <p:nvSpPr>
          <p:cNvPr id="25" name="method-detail-04">
            <a:extLst>
              <a:ext uri="{FF2B5EF4-FFF2-40B4-BE49-F238E27FC236}">
                <a16:creationId xmlns:a16="http://schemas.microsoft.com/office/drawing/2014/main" id="{A4BC2E64-0B72-4DD9-8A08-5923995ADC86}"/>
              </a:ext>
            </a:extLst>
          </p:cNvPr>
          <p:cNvSpPr>
            <a:spLocks noGrp="1"/>
          </p:cNvSpPr>
          <p:nvPr/>
        </p:nvSpPr>
        <p:spPr>
          <a:xfrm>
            <a:off x="6762750" y="233362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Comparable prices</a:t>
            </a:r>
          </a:p>
        </p:txBody>
      </p:sp>
      <p:sp>
        <p:nvSpPr>
          <p:cNvPr id="26" name="method-step-05">
            <a:extLst>
              <a:ext uri="{FF2B5EF4-FFF2-40B4-BE49-F238E27FC236}">
                <a16:creationId xmlns:a16="http://schemas.microsoft.com/office/drawing/2014/main" id="{B14F1178-32DC-402B-84F9-174A1A2F2E1D}"/>
              </a:ext>
            </a:extLst>
          </p:cNvPr>
          <p:cNvSpPr>
            <a:spLocks noGrp="1"/>
          </p:cNvSpPr>
          <p:nvPr/>
        </p:nvSpPr>
        <p:spPr>
          <a:xfrm>
            <a:off x="8039100" y="21145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27" name="method-title-05">
            <a:extLst>
              <a:ext uri="{FF2B5EF4-FFF2-40B4-BE49-F238E27FC236}">
                <a16:creationId xmlns:a16="http://schemas.microsoft.com/office/drawing/2014/main" id="{947A1A43-0B5F-4B37-ACA5-01ED34479E51}"/>
              </a:ext>
            </a:extLst>
          </p:cNvPr>
          <p:cNvSpPr>
            <a:spLocks noGrp="1"/>
          </p:cNvSpPr>
          <p:nvPr/>
        </p:nvSpPr>
        <p:spPr>
          <a:xfrm>
            <a:off x="8553450" y="21240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PRIORITIZE</a:t>
            </a:r>
          </a:p>
        </p:txBody>
      </p:sp>
      <p:sp>
        <p:nvSpPr>
          <p:cNvPr id="28" name="method-detail-05">
            <a:extLst>
              <a:ext uri="{FF2B5EF4-FFF2-40B4-BE49-F238E27FC236}">
                <a16:creationId xmlns:a16="http://schemas.microsoft.com/office/drawing/2014/main" id="{08C963E1-7080-4781-9D43-3016525DDD23}"/>
              </a:ext>
            </a:extLst>
          </p:cNvPr>
          <p:cNvSpPr>
            <a:spLocks noGrp="1"/>
          </p:cNvSpPr>
          <p:nvPr/>
        </p:nvSpPr>
        <p:spPr>
          <a:xfrm>
            <a:off x="8553450" y="233362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Rank opportunities</a:t>
            </a:r>
          </a:p>
        </p:txBody>
      </p:sp>
      <p:sp>
        <p:nvSpPr>
          <p:cNvPr id="29" name="method-step-06">
            <a:extLst>
              <a:ext uri="{FF2B5EF4-FFF2-40B4-BE49-F238E27FC236}">
                <a16:creationId xmlns:a16="http://schemas.microsoft.com/office/drawing/2014/main" id="{0CE61B5D-B453-451F-9302-4CEAEFABA868}"/>
              </a:ext>
            </a:extLst>
          </p:cNvPr>
          <p:cNvSpPr>
            <a:spLocks noGrp="1"/>
          </p:cNvSpPr>
          <p:nvPr/>
        </p:nvSpPr>
        <p:spPr>
          <a:xfrm>
            <a:off x="9829800" y="2114550"/>
            <a:ext cx="438150" cy="43815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sp>
        <p:nvSpPr>
          <p:cNvPr id="30" name="method-title-06">
            <a:extLst>
              <a:ext uri="{FF2B5EF4-FFF2-40B4-BE49-F238E27FC236}">
                <a16:creationId xmlns:a16="http://schemas.microsoft.com/office/drawing/2014/main" id="{0BC45998-0431-4316-A82B-47C54821AC28}"/>
              </a:ext>
            </a:extLst>
          </p:cNvPr>
          <p:cNvSpPr>
            <a:spLocks noGrp="1"/>
          </p:cNvSpPr>
          <p:nvPr/>
        </p:nvSpPr>
        <p:spPr>
          <a:xfrm>
            <a:off x="10344150" y="21240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163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163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EXPLAIN</a:t>
            </a:r>
          </a:p>
        </p:txBody>
      </p:sp>
      <p:sp>
        <p:nvSpPr>
          <p:cNvPr id="31" name="method-detail-06">
            <a:extLst>
              <a:ext uri="{FF2B5EF4-FFF2-40B4-BE49-F238E27FC236}">
                <a16:creationId xmlns:a16="http://schemas.microsoft.com/office/drawing/2014/main" id="{9AD50526-F9D5-40C3-B4F1-2800EABF8B23}"/>
              </a:ext>
            </a:extLst>
          </p:cNvPr>
          <p:cNvSpPr>
            <a:spLocks noGrp="1"/>
          </p:cNvSpPr>
          <p:nvPr/>
        </p:nvSpPr>
        <p:spPr>
          <a:xfrm>
            <a:off x="10344150" y="233362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013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13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narrative</a:t>
            </a:r>
          </a:p>
        </p:txBody>
      </p:sp>
      <p:sp>
        <p:nvSpPr>
          <p:cNvPr id="32" name="method-divider">
            <a:extLst>
              <a:ext uri="{FF2B5EF4-FFF2-40B4-BE49-F238E27FC236}">
                <a16:creationId xmlns:a16="http://schemas.microsoft.com/office/drawing/2014/main" id="{5D307EC4-0F7C-4791-A3B3-34290B2CE7F8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10515600" cy="0"/>
          </a:xfrm>
          <a:prstGeom prst="line">
            <a:avLst/>
          </a:prstGeom>
          <a:noFill/>
          <a:ln w="9525">
            <a:solidFill>
              <a:srgbClr val="A3B2C1"/>
            </a:solidFill>
            <a:prstDash val="solid"/>
          </a:ln>
        </p:spPr>
      </p:sp>
      <p:sp>
        <p:nvSpPr>
          <p:cNvPr id="33" name="architecture-label">
            <a:extLst>
              <a:ext uri="{FF2B5EF4-FFF2-40B4-BE49-F238E27FC236}">
                <a16:creationId xmlns:a16="http://schemas.microsoft.com/office/drawing/2014/main" id="{C4E8C6F9-5987-49A7-92BF-56791BCA8506}"/>
              </a:ext>
            </a:extLst>
          </p:cNvPr>
          <p:cNvSpPr>
            <a:spLocks noGrp="1"/>
          </p:cNvSpPr>
          <p:nvPr/>
        </p:nvSpPr>
        <p:spPr>
          <a:xfrm>
            <a:off x="838200" y="29051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buNone/>
              <a:defRPr sz="1125" b="1">
                <a:solidFill>
                  <a:srgbClr val="CC0000"/>
                </a:solidFill>
                <a:latin typeface="Verdana"/>
                <a:ea typeface="Verdana"/>
                <a:cs typeface="Verdana"/>
              </a:defRPr>
            </a:pPr>
            <a:r>
              <a:rPr sz="1125" b="1">
                <a:solidFill>
                  <a:srgbClr val="CC0000"/>
                </a:solidFill>
                <a:latin typeface="Verdana"/>
                <a:ea typeface="Verdana"/>
                <a:cs typeface="Verdana"/>
              </a:rPr>
              <a:t>SYSTEM ARCHITECTURE</a:t>
            </a:r>
          </a:p>
        </p:txBody>
      </p:sp>
      <p:sp>
        <p:nvSpPr>
          <p:cNvPr id="34" name="architecture-caption">
            <a:extLst>
              <a:ext uri="{FF2B5EF4-FFF2-40B4-BE49-F238E27FC236}">
                <a16:creationId xmlns:a16="http://schemas.microsoft.com/office/drawing/2014/main" id="{014BAE22-79FC-4A35-85B6-098033243713}"/>
              </a:ext>
            </a:extLst>
          </p:cNvPr>
          <p:cNvSpPr>
            <a:spLocks noGrp="1"/>
          </p:cNvSpPr>
          <p:nvPr/>
        </p:nvSpPr>
        <p:spPr>
          <a:xfrm>
            <a:off x="6858000" y="2905125"/>
            <a:ext cx="449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050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50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data flows forward; decisions remain auditable</a:t>
            </a:r>
          </a:p>
        </p:txBody>
      </p:sp>
      <p:sp>
        <p:nvSpPr>
          <p:cNvPr id="35" name="architecture-edge-1">
            <a:extLst>
              <a:ext uri="{FF2B5EF4-FFF2-40B4-BE49-F238E27FC236}">
                <a16:creationId xmlns:a16="http://schemas.microsoft.com/office/drawing/2014/main" id="{17DB89E2-301A-4558-9D0C-82646363BFD3}"/>
              </a:ext>
            </a:extLst>
          </p:cNvPr>
          <p:cNvSpPr>
            <a:spLocks noGrp="1"/>
          </p:cNvSpPr>
          <p:nvPr/>
        </p:nvSpPr>
        <p:spPr>
          <a:xfrm>
            <a:off x="2724150" y="4114800"/>
            <a:ext cx="400050" cy="171450"/>
          </a:xfrm>
          <a:prstGeom prst="rightArrow">
            <a:avLst/>
          </a:prstGeom>
          <a:solidFill>
            <a:srgbClr val="5F7182"/>
          </a:solidFill>
          <a:ln w="0">
            <a:noFill/>
            <a:prstDash val="solid"/>
          </a:ln>
        </p:spPr>
      </p:sp>
      <p:sp>
        <p:nvSpPr>
          <p:cNvPr id="36" name="architecture-edge-2">
            <a:extLst>
              <a:ext uri="{FF2B5EF4-FFF2-40B4-BE49-F238E27FC236}">
                <a16:creationId xmlns:a16="http://schemas.microsoft.com/office/drawing/2014/main" id="{174A1280-7362-47EE-ACE6-245087F7AA18}"/>
              </a:ext>
            </a:extLst>
          </p:cNvPr>
          <p:cNvSpPr>
            <a:spLocks noGrp="1"/>
          </p:cNvSpPr>
          <p:nvPr/>
        </p:nvSpPr>
        <p:spPr>
          <a:xfrm>
            <a:off x="4857750" y="4114800"/>
            <a:ext cx="400050" cy="171450"/>
          </a:xfrm>
          <a:prstGeom prst="rightArrow">
            <a:avLst/>
          </a:prstGeom>
          <a:solidFill>
            <a:srgbClr val="5F7182"/>
          </a:solidFill>
          <a:ln w="0">
            <a:noFill/>
            <a:prstDash val="solid"/>
          </a:ln>
        </p:spPr>
      </p:sp>
      <p:sp>
        <p:nvSpPr>
          <p:cNvPr id="37" name="architecture-edge-3">
            <a:extLst>
              <a:ext uri="{FF2B5EF4-FFF2-40B4-BE49-F238E27FC236}">
                <a16:creationId xmlns:a16="http://schemas.microsoft.com/office/drawing/2014/main" id="{0F53DDAB-D782-47F6-8D54-5B0DD62F3034}"/>
              </a:ext>
            </a:extLst>
          </p:cNvPr>
          <p:cNvSpPr>
            <a:spLocks noGrp="1"/>
          </p:cNvSpPr>
          <p:nvPr/>
        </p:nvSpPr>
        <p:spPr>
          <a:xfrm>
            <a:off x="6991350" y="4114800"/>
            <a:ext cx="400050" cy="171450"/>
          </a:xfrm>
          <a:prstGeom prst="rightArrow">
            <a:avLst/>
          </a:prstGeom>
          <a:solidFill>
            <a:srgbClr val="CC0000"/>
          </a:solidFill>
          <a:ln w="0">
            <a:noFill/>
            <a:prstDash val="solid"/>
          </a:ln>
        </p:spPr>
      </p:sp>
      <p:sp>
        <p:nvSpPr>
          <p:cNvPr id="38" name="architecture-edge-4">
            <a:extLst>
              <a:ext uri="{FF2B5EF4-FFF2-40B4-BE49-F238E27FC236}">
                <a16:creationId xmlns:a16="http://schemas.microsoft.com/office/drawing/2014/main" id="{1B805F52-A883-4039-8EAD-4E7D6859A87B}"/>
              </a:ext>
            </a:extLst>
          </p:cNvPr>
          <p:cNvSpPr>
            <a:spLocks noGrp="1"/>
          </p:cNvSpPr>
          <p:nvPr/>
        </p:nvSpPr>
        <p:spPr>
          <a:xfrm>
            <a:off x="9124950" y="4114800"/>
            <a:ext cx="400050" cy="171450"/>
          </a:xfrm>
          <a:prstGeom prst="rightArrow">
            <a:avLst/>
          </a:prstGeom>
          <a:solidFill>
            <a:srgbClr val="5F7182"/>
          </a:solidFill>
          <a:ln w="0">
            <a:noFill/>
            <a:prstDash val="solid"/>
          </a:ln>
        </p:spPr>
      </p:sp>
      <p:sp>
        <p:nvSpPr>
          <p:cNvPr id="39" name="architecture-card-1">
            <a:extLst>
              <a:ext uri="{FF2B5EF4-FFF2-40B4-BE49-F238E27FC236}">
                <a16:creationId xmlns:a16="http://schemas.microsoft.com/office/drawing/2014/main" id="{68B2F637-E1EB-4A71-B8C0-A8C1FA0ADAD9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1905000" cy="184785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1906">
            <a:solidFill>
              <a:srgbClr val="A3B2C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0" name="architecture-accent-1">
            <a:extLst>
              <a:ext uri="{FF2B5EF4-FFF2-40B4-BE49-F238E27FC236}">
                <a16:creationId xmlns:a16="http://schemas.microsoft.com/office/drawing/2014/main" id="{527799C1-344C-426F-8812-5ECD5F91A322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1905000" cy="66675"/>
          </a:xfrm>
          <a:prstGeom prst="rect">
            <a:avLst/>
          </a:prstGeom>
          <a:solidFill>
            <a:srgbClr val="5F7182"/>
          </a:solidFill>
          <a:ln w="0">
            <a:noFill/>
            <a:prstDash val="solid"/>
          </a:ln>
        </p:spPr>
      </p:sp>
      <p:sp>
        <p:nvSpPr>
          <p:cNvPr id="41" name="architecture-number-1">
            <a:extLst>
              <a:ext uri="{FF2B5EF4-FFF2-40B4-BE49-F238E27FC236}">
                <a16:creationId xmlns:a16="http://schemas.microsoft.com/office/drawing/2014/main" id="{684734C2-C95A-4CF7-8E6B-499F1A976411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323850" cy="323850"/>
          </a:xfrm>
          <a:prstGeom prst="ellipse">
            <a:avLst/>
          </a:prstGeom>
          <a:solidFill>
            <a:srgbClr val="1F2937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42" name="architecture-title-1">
            <a:extLst>
              <a:ext uri="{FF2B5EF4-FFF2-40B4-BE49-F238E27FC236}">
                <a16:creationId xmlns:a16="http://schemas.microsoft.com/office/drawing/2014/main" id="{F5F36A32-F6B3-4674-A630-A9013E0FA880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SOURCE DATA</a:t>
            </a:r>
          </a:p>
        </p:txBody>
      </p:sp>
      <p:sp>
        <p:nvSpPr>
          <p:cNvPr id="43" name="architecture-body-1">
            <a:extLst>
              <a:ext uri="{FF2B5EF4-FFF2-40B4-BE49-F238E27FC236}">
                <a16:creationId xmlns:a16="http://schemas.microsoft.com/office/drawing/2014/main" id="{A469B4FA-F211-4494-B923-2839D38021CD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CSV / ERP exports</a:t>
            </a:r>
          </a:p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Purchase-order records</a:t>
            </a:r>
          </a:p>
        </p:txBody>
      </p:sp>
      <p:sp>
        <p:nvSpPr>
          <p:cNvPr id="44" name="architecture-card-2">
            <a:extLst>
              <a:ext uri="{FF2B5EF4-FFF2-40B4-BE49-F238E27FC236}">
                <a16:creationId xmlns:a16="http://schemas.microsoft.com/office/drawing/2014/main" id="{F7ED4C36-ED20-4F07-8655-10DE56F5BC9B}"/>
              </a:ext>
            </a:extLst>
          </p:cNvPr>
          <p:cNvSpPr>
            <a:spLocks noGrp="1"/>
          </p:cNvSpPr>
          <p:nvPr/>
        </p:nvSpPr>
        <p:spPr>
          <a:xfrm>
            <a:off x="2933700" y="3276600"/>
            <a:ext cx="1905000" cy="184785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1906">
            <a:solidFill>
              <a:srgbClr val="A3B2C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5" name="architecture-accent-2">
            <a:extLst>
              <a:ext uri="{FF2B5EF4-FFF2-40B4-BE49-F238E27FC236}">
                <a16:creationId xmlns:a16="http://schemas.microsoft.com/office/drawing/2014/main" id="{15D3E4A9-2A27-447D-B29C-A96C286E9F97}"/>
              </a:ext>
            </a:extLst>
          </p:cNvPr>
          <p:cNvSpPr>
            <a:spLocks noGrp="1"/>
          </p:cNvSpPr>
          <p:nvPr/>
        </p:nvSpPr>
        <p:spPr>
          <a:xfrm>
            <a:off x="2933700" y="3276600"/>
            <a:ext cx="1905000" cy="66675"/>
          </a:xfrm>
          <a:prstGeom prst="rect">
            <a:avLst/>
          </a:prstGeom>
          <a:solidFill>
            <a:srgbClr val="5F7182"/>
          </a:solidFill>
          <a:ln w="0">
            <a:noFill/>
            <a:prstDash val="solid"/>
          </a:ln>
        </p:spPr>
      </p:sp>
      <p:sp>
        <p:nvSpPr>
          <p:cNvPr id="46" name="architecture-number-2">
            <a:extLst>
              <a:ext uri="{FF2B5EF4-FFF2-40B4-BE49-F238E27FC236}">
                <a16:creationId xmlns:a16="http://schemas.microsoft.com/office/drawing/2014/main" id="{6625CCD7-108F-4EAA-AD95-501F285C7D97}"/>
              </a:ext>
            </a:extLst>
          </p:cNvPr>
          <p:cNvSpPr>
            <a:spLocks noGrp="1"/>
          </p:cNvSpPr>
          <p:nvPr/>
        </p:nvSpPr>
        <p:spPr>
          <a:xfrm>
            <a:off x="3086100" y="3476625"/>
            <a:ext cx="323850" cy="323850"/>
          </a:xfrm>
          <a:prstGeom prst="ellipse">
            <a:avLst/>
          </a:prstGeom>
          <a:solidFill>
            <a:srgbClr val="1F2937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47" name="architecture-title-2">
            <a:extLst>
              <a:ext uri="{FF2B5EF4-FFF2-40B4-BE49-F238E27FC236}">
                <a16:creationId xmlns:a16="http://schemas.microsoft.com/office/drawing/2014/main" id="{4390FA7C-36D3-40C3-BE7B-7A5C838C8414}"/>
              </a:ext>
            </a:extLst>
          </p:cNvPr>
          <p:cNvSpPr>
            <a:spLocks noGrp="1"/>
          </p:cNvSpPr>
          <p:nvPr/>
        </p:nvSpPr>
        <p:spPr>
          <a:xfrm>
            <a:off x="3086100" y="392430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DATA FOUNDATION</a:t>
            </a:r>
          </a:p>
        </p:txBody>
      </p:sp>
      <p:sp>
        <p:nvSpPr>
          <p:cNvPr id="48" name="architecture-body-2">
            <a:extLst>
              <a:ext uri="{FF2B5EF4-FFF2-40B4-BE49-F238E27FC236}">
                <a16:creationId xmlns:a16="http://schemas.microsoft.com/office/drawing/2014/main" id="{79397F18-1F62-44DE-A7D3-689F16F485B4}"/>
              </a:ext>
            </a:extLst>
          </p:cNvPr>
          <p:cNvSpPr>
            <a:spLocks noGrp="1"/>
          </p:cNvSpPr>
          <p:nvPr/>
        </p:nvSpPr>
        <p:spPr>
          <a:xfrm>
            <a:off x="3086100" y="438150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Pydantic validation</a:t>
            </a:r>
          </a:p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PostgreSQL + Alembic</a:t>
            </a:r>
          </a:p>
        </p:txBody>
      </p:sp>
      <p:sp>
        <p:nvSpPr>
          <p:cNvPr id="49" name="architecture-card-3">
            <a:extLst>
              <a:ext uri="{FF2B5EF4-FFF2-40B4-BE49-F238E27FC236}">
                <a16:creationId xmlns:a16="http://schemas.microsoft.com/office/drawing/2014/main" id="{36AA4610-1A5E-49DF-8344-C5F1EBC34B43}"/>
              </a:ext>
            </a:extLst>
          </p:cNvPr>
          <p:cNvSpPr>
            <a:spLocks noGrp="1"/>
          </p:cNvSpPr>
          <p:nvPr/>
        </p:nvSpPr>
        <p:spPr>
          <a:xfrm>
            <a:off x="5067300" y="3276600"/>
            <a:ext cx="1905000" cy="1847850"/>
          </a:xfrm>
          <a:prstGeom prst="roundRect">
            <a:avLst>
              <a:gd name="adj" fmla="val 6186"/>
            </a:avLst>
          </a:prstGeom>
          <a:noFill/>
          <a:ln w="19050">
            <a:solidFill>
              <a:srgbClr val="CC0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0" name="architecture-accent-3">
            <a:extLst>
              <a:ext uri="{FF2B5EF4-FFF2-40B4-BE49-F238E27FC236}">
                <a16:creationId xmlns:a16="http://schemas.microsoft.com/office/drawing/2014/main" id="{FAA92734-24ED-45F1-A9A9-A74C88A0FE30}"/>
              </a:ext>
            </a:extLst>
          </p:cNvPr>
          <p:cNvSpPr>
            <a:spLocks noGrp="1"/>
          </p:cNvSpPr>
          <p:nvPr/>
        </p:nvSpPr>
        <p:spPr>
          <a:xfrm>
            <a:off x="5067300" y="3276600"/>
            <a:ext cx="1905000" cy="66675"/>
          </a:xfrm>
          <a:prstGeom prst="rect">
            <a:avLst/>
          </a:prstGeom>
          <a:solidFill>
            <a:srgbClr val="CC0000"/>
          </a:solidFill>
          <a:ln w="0">
            <a:noFill/>
            <a:prstDash val="solid"/>
          </a:ln>
        </p:spPr>
      </p:sp>
      <p:sp>
        <p:nvSpPr>
          <p:cNvPr id="51" name="architecture-number-3">
            <a:extLst>
              <a:ext uri="{FF2B5EF4-FFF2-40B4-BE49-F238E27FC236}">
                <a16:creationId xmlns:a16="http://schemas.microsoft.com/office/drawing/2014/main" id="{33DF3D6F-3C2C-4DC3-B0DE-A722E7794753}"/>
              </a:ext>
            </a:extLst>
          </p:cNvPr>
          <p:cNvSpPr>
            <a:spLocks noGrp="1"/>
          </p:cNvSpPr>
          <p:nvPr/>
        </p:nvSpPr>
        <p:spPr>
          <a:xfrm>
            <a:off x="5219700" y="3476625"/>
            <a:ext cx="323850" cy="323850"/>
          </a:xfrm>
          <a:prstGeom prst="ellipse">
            <a:avLst/>
          </a:prstGeom>
          <a:solidFill>
            <a:srgbClr val="CC0000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52" name="architecture-title-3">
            <a:extLst>
              <a:ext uri="{FF2B5EF4-FFF2-40B4-BE49-F238E27FC236}">
                <a16:creationId xmlns:a16="http://schemas.microsoft.com/office/drawing/2014/main" id="{0DF4FB9A-17A2-4797-BBAD-9BAF57BFD312}"/>
              </a:ext>
            </a:extLst>
          </p:cNvPr>
          <p:cNvSpPr>
            <a:spLocks noGrp="1"/>
          </p:cNvSpPr>
          <p:nvPr/>
        </p:nvSpPr>
        <p:spPr>
          <a:xfrm>
            <a:off x="5219700" y="392430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75" b="1">
                <a:solidFill>
                  <a:srgbClr val="A90000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A90000"/>
                </a:solidFill>
                <a:latin typeface="Verdana"/>
                <a:ea typeface="Verdana"/>
                <a:cs typeface="Verdana"/>
              </a:rPr>
              <a:t>ANALYTICS ENGINE</a:t>
            </a:r>
          </a:p>
        </p:txBody>
      </p:sp>
      <p:sp>
        <p:nvSpPr>
          <p:cNvPr id="53" name="architecture-body-3">
            <a:extLst>
              <a:ext uri="{FF2B5EF4-FFF2-40B4-BE49-F238E27FC236}">
                <a16:creationId xmlns:a16="http://schemas.microsoft.com/office/drawing/2014/main" id="{432C9313-55C5-4A5F-BC70-F5749F495909}"/>
              </a:ext>
            </a:extLst>
          </p:cNvPr>
          <p:cNvSpPr>
            <a:spLocks noGrp="1"/>
          </p:cNvSpPr>
          <p:nvPr/>
        </p:nvSpPr>
        <p:spPr>
          <a:xfrm>
            <a:off x="5219700" y="438150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Spend KPIs + benchmarks</a:t>
            </a:r>
          </a:p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Deterministic opportunities</a:t>
            </a:r>
          </a:p>
        </p:txBody>
      </p:sp>
      <p:sp>
        <p:nvSpPr>
          <p:cNvPr id="54" name="architecture-card-4">
            <a:extLst>
              <a:ext uri="{FF2B5EF4-FFF2-40B4-BE49-F238E27FC236}">
                <a16:creationId xmlns:a16="http://schemas.microsoft.com/office/drawing/2014/main" id="{6ACEBFBB-FE5C-4B44-B8C8-2FD44830F2A4}"/>
              </a:ext>
            </a:extLst>
          </p:cNvPr>
          <p:cNvSpPr>
            <a:spLocks noGrp="1"/>
          </p:cNvSpPr>
          <p:nvPr/>
        </p:nvSpPr>
        <p:spPr>
          <a:xfrm>
            <a:off x="7200900" y="3276600"/>
            <a:ext cx="1905000" cy="184785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1906">
            <a:solidFill>
              <a:srgbClr val="A3B2C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5" name="architecture-accent-4">
            <a:extLst>
              <a:ext uri="{FF2B5EF4-FFF2-40B4-BE49-F238E27FC236}">
                <a16:creationId xmlns:a16="http://schemas.microsoft.com/office/drawing/2014/main" id="{95031890-00B9-45E4-86B0-511F06281C61}"/>
              </a:ext>
            </a:extLst>
          </p:cNvPr>
          <p:cNvSpPr>
            <a:spLocks noGrp="1"/>
          </p:cNvSpPr>
          <p:nvPr/>
        </p:nvSpPr>
        <p:spPr>
          <a:xfrm>
            <a:off x="7200900" y="3276600"/>
            <a:ext cx="1905000" cy="66675"/>
          </a:xfrm>
          <a:prstGeom prst="rect">
            <a:avLst/>
          </a:prstGeom>
          <a:solidFill>
            <a:srgbClr val="5F7182"/>
          </a:solidFill>
          <a:ln w="0">
            <a:noFill/>
            <a:prstDash val="solid"/>
          </a:ln>
        </p:spPr>
      </p:sp>
      <p:sp>
        <p:nvSpPr>
          <p:cNvPr id="56" name="architecture-number-4">
            <a:extLst>
              <a:ext uri="{FF2B5EF4-FFF2-40B4-BE49-F238E27FC236}">
                <a16:creationId xmlns:a16="http://schemas.microsoft.com/office/drawing/2014/main" id="{0C1FED5D-0170-4ED0-B8DB-E07E9AE661D1}"/>
              </a:ext>
            </a:extLst>
          </p:cNvPr>
          <p:cNvSpPr>
            <a:spLocks noGrp="1"/>
          </p:cNvSpPr>
          <p:nvPr/>
        </p:nvSpPr>
        <p:spPr>
          <a:xfrm>
            <a:off x="7353300" y="3476625"/>
            <a:ext cx="323850" cy="323850"/>
          </a:xfrm>
          <a:prstGeom prst="ellipse">
            <a:avLst/>
          </a:prstGeom>
          <a:solidFill>
            <a:srgbClr val="1F2937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57" name="architecture-title-4">
            <a:extLst>
              <a:ext uri="{FF2B5EF4-FFF2-40B4-BE49-F238E27FC236}">
                <a16:creationId xmlns:a16="http://schemas.microsoft.com/office/drawing/2014/main" id="{05E8CF2A-B0B6-438E-97D8-CCEE56148094}"/>
              </a:ext>
            </a:extLst>
          </p:cNvPr>
          <p:cNvSpPr>
            <a:spLocks noGrp="1"/>
          </p:cNvSpPr>
          <p:nvPr/>
        </p:nvSpPr>
        <p:spPr>
          <a:xfrm>
            <a:off x="7353300" y="392430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API + AI GUARDRAIL</a:t>
            </a:r>
          </a:p>
        </p:txBody>
      </p:sp>
      <p:sp>
        <p:nvSpPr>
          <p:cNvPr id="58" name="architecture-body-4">
            <a:extLst>
              <a:ext uri="{FF2B5EF4-FFF2-40B4-BE49-F238E27FC236}">
                <a16:creationId xmlns:a16="http://schemas.microsoft.com/office/drawing/2014/main" id="{172D052B-D69B-4EA3-B351-FA6F90734EF9}"/>
              </a:ext>
            </a:extLst>
          </p:cNvPr>
          <p:cNvSpPr>
            <a:spLocks noGrp="1"/>
          </p:cNvSpPr>
          <p:nvPr/>
        </p:nvSpPr>
        <p:spPr>
          <a:xfrm>
            <a:off x="7353300" y="438150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FastAPI services</a:t>
            </a:r>
          </a:p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Verified context to the LLM</a:t>
            </a:r>
          </a:p>
        </p:txBody>
      </p:sp>
      <p:sp>
        <p:nvSpPr>
          <p:cNvPr id="59" name="architecture-card-5">
            <a:extLst>
              <a:ext uri="{FF2B5EF4-FFF2-40B4-BE49-F238E27FC236}">
                <a16:creationId xmlns:a16="http://schemas.microsoft.com/office/drawing/2014/main" id="{77C377E3-1A49-4810-B194-09EE03BAAE40}"/>
              </a:ext>
            </a:extLst>
          </p:cNvPr>
          <p:cNvSpPr>
            <a:spLocks noGrp="1"/>
          </p:cNvSpPr>
          <p:nvPr/>
        </p:nvSpPr>
        <p:spPr>
          <a:xfrm>
            <a:off x="9334500" y="3276600"/>
            <a:ext cx="1905000" cy="1847850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1906">
            <a:solidFill>
              <a:srgbClr val="A3B2C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0" name="architecture-accent-5">
            <a:extLst>
              <a:ext uri="{FF2B5EF4-FFF2-40B4-BE49-F238E27FC236}">
                <a16:creationId xmlns:a16="http://schemas.microsoft.com/office/drawing/2014/main" id="{BAC41749-DC44-4830-83DA-2EBD9BEC764B}"/>
              </a:ext>
            </a:extLst>
          </p:cNvPr>
          <p:cNvSpPr>
            <a:spLocks noGrp="1"/>
          </p:cNvSpPr>
          <p:nvPr/>
        </p:nvSpPr>
        <p:spPr>
          <a:xfrm>
            <a:off x="9334500" y="3276600"/>
            <a:ext cx="1905000" cy="66675"/>
          </a:xfrm>
          <a:prstGeom prst="rect">
            <a:avLst/>
          </a:prstGeom>
          <a:solidFill>
            <a:srgbClr val="5F7182"/>
          </a:solidFill>
          <a:ln w="0">
            <a:noFill/>
            <a:prstDash val="solid"/>
          </a:ln>
        </p:spPr>
      </p:sp>
      <p:sp>
        <p:nvSpPr>
          <p:cNvPr id="61" name="architecture-number-5">
            <a:extLst>
              <a:ext uri="{FF2B5EF4-FFF2-40B4-BE49-F238E27FC236}">
                <a16:creationId xmlns:a16="http://schemas.microsoft.com/office/drawing/2014/main" id="{4905FC91-52E7-4F32-B608-ECE8AAFBD850}"/>
              </a:ext>
            </a:extLst>
          </p:cNvPr>
          <p:cNvSpPr>
            <a:spLocks noGrp="1"/>
          </p:cNvSpPr>
          <p:nvPr/>
        </p:nvSpPr>
        <p:spPr>
          <a:xfrm>
            <a:off x="9486900" y="3476625"/>
            <a:ext cx="323850" cy="323850"/>
          </a:xfrm>
          <a:prstGeom prst="ellipse">
            <a:avLst/>
          </a:prstGeom>
          <a:solidFill>
            <a:srgbClr val="1F2937"/>
          </a:solidFill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0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62" name="architecture-title-5">
            <a:extLst>
              <a:ext uri="{FF2B5EF4-FFF2-40B4-BE49-F238E27FC236}">
                <a16:creationId xmlns:a16="http://schemas.microsoft.com/office/drawing/2014/main" id="{D44EFE73-8E95-466B-8E2C-6B63CD62EDE7}"/>
              </a:ext>
            </a:extLst>
          </p:cNvPr>
          <p:cNvSpPr>
            <a:spLocks noGrp="1"/>
          </p:cNvSpPr>
          <p:nvPr/>
        </p:nvSpPr>
        <p:spPr>
          <a:xfrm>
            <a:off x="9486900" y="3924300"/>
            <a:ext cx="1600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275" b="1">
                <a:solidFill>
                  <a:srgbClr val="1F2937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F2937"/>
                </a:solidFill>
                <a:latin typeface="Verdana"/>
                <a:ea typeface="Verdana"/>
                <a:cs typeface="Verdana"/>
              </a:rPr>
              <a:t>PROCUREMENT UX</a:t>
            </a:r>
          </a:p>
        </p:txBody>
      </p:sp>
      <p:sp>
        <p:nvSpPr>
          <p:cNvPr id="63" name="architecture-body-5">
            <a:extLst>
              <a:ext uri="{FF2B5EF4-FFF2-40B4-BE49-F238E27FC236}">
                <a16:creationId xmlns:a16="http://schemas.microsoft.com/office/drawing/2014/main" id="{0157D45A-CCD5-40D6-A43A-D7EDA9C91F50}"/>
              </a:ext>
            </a:extLst>
          </p:cNvPr>
          <p:cNvSpPr>
            <a:spLocks noGrp="1"/>
          </p:cNvSpPr>
          <p:nvPr/>
        </p:nvSpPr>
        <p:spPr>
          <a:xfrm>
            <a:off x="9486900" y="438150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React + Recharts</a:t>
            </a:r>
          </a:p>
          <a:p>
            <a:pPr>
              <a:buNone/>
              <a:defRPr sz="1088">
                <a:solidFill>
                  <a:srgbClr val="52606D"/>
                </a:solidFill>
                <a:latin typeface="Verdana"/>
                <a:ea typeface="Verdana"/>
                <a:cs typeface="Verdana"/>
              </a:defRPr>
            </a:pPr>
            <a:r>
              <a:rPr sz="1088">
                <a:solidFill>
                  <a:srgbClr val="52606D"/>
                </a:solidFill>
                <a:latin typeface="Verdana"/>
                <a:ea typeface="Verdana"/>
                <a:cs typeface="Verdana"/>
              </a:rPr>
              <a:t>Filters, review and action</a:t>
            </a:r>
          </a:p>
        </p:txBody>
      </p:sp>
      <p:sp>
        <p:nvSpPr>
          <p:cNvPr id="64" name="architecture-truth-bar">
            <a:extLst>
              <a:ext uri="{FF2B5EF4-FFF2-40B4-BE49-F238E27FC236}">
                <a16:creationId xmlns:a16="http://schemas.microsoft.com/office/drawing/2014/main" id="{995C4905-1623-4903-8481-E21B77032157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10439400" cy="552450"/>
          </a:xfrm>
          <a:prstGeom prst="roundRect">
            <a:avLst>
              <a:gd name="adj" fmla="val 17241"/>
            </a:avLst>
          </a:prstGeom>
          <a:solidFill>
            <a:srgbClr val="1F2937"/>
          </a:solidFill>
          <a:ln w="9525">
            <a:solidFill>
              <a:srgbClr val="1F2937"/>
            </a:solidFill>
            <a:prstDash val="solid"/>
          </a:ln>
        </p:spPr>
        <p:txBody>
          <a:bodyPr lIns="114300" tIns="19050" rIns="114300" bIns="19050" anchor="ctr"/>
          <a:lstStyle/>
          <a:p>
            <a:pPr algn="ctr">
              <a:buNone/>
              <a:defRPr sz="1200"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DETERMINISTIC ANALYTICS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calculates facts   •   </a:t>
            </a:r>
            <a:r>
              <a:rPr sz="1200" b="1">
                <a:solidFill>
                  <a:srgbClr val="FF6B6B"/>
                </a:solidFill>
                <a:latin typeface="Verdana"/>
                <a:ea typeface="Verdana"/>
                <a:cs typeface="Verdana"/>
              </a:rPr>
              <a:t>AI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explains verified context   •   </a:t>
            </a: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PEOPLE</a:t>
            </a:r>
            <a:r>
              <a:rPr sz="1200">
                <a:solidFill>
                  <a:srgbClr val="D9E0E6"/>
                </a:solidFill>
                <a:latin typeface="Verdana"/>
                <a:ea typeface="Verdana"/>
                <a:cs typeface="Verdana"/>
              </a:rPr>
              <a:t> decide</a:t>
            </a:r>
          </a:p>
        </p:txBody>
      </p:sp>
    </p:spTree>
    <p:extLst>
      <p:ext uri="{BB962C8B-B14F-4D97-AF65-F5344CB8AC3E}">
        <p14:creationId xmlns:p14="http://schemas.microsoft.com/office/powerpoint/2010/main" val="285154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END-TO-END USE CASE – LIVE DEMO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Use Case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Module(s) Involved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1. Import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Pydantic</a:t>
                      </a:r>
                    </a:p>
                    <a:p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47,128 rows</a:t>
                      </a:r>
                    </a:p>
                    <a:p>
                      <a:r>
                        <a:t>0 rejected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2. Run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 services</a:t>
                      </a:r>
                    </a:p>
                    <a:p>
                      <a:r>
                        <a:t>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$411.18M spend</a:t>
                      </a:r>
                    </a:p>
                    <a:p>
                      <a:r>
                        <a:t>50 benchmarks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3. Review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FastAPI</a:t>
                      </a:r>
                    </a:p>
                    <a:p>
                      <a:r>
                        <a:t>React •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254 findings</a:t>
                      </a:r>
                    </a:p>
                    <a:p>
                      <a:r>
                        <a:t>$12.51M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7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D98744-D6FD-47FD-ABDF-7C52B1EFF502}"/>
              </a:ext>
            </a:extLst>
          </p:cNvPr>
          <p:cNvSpPr>
            <a:spLocks noGrp="1"/>
          </p:cNvSpPr>
          <p:nvPr/>
        </p:nvSpPr>
        <p:spPr>
          <a:xfrm>
            <a:off x="812800" y="4100000"/>
            <a:ext cx="10965218" cy="22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/>
              <a:t>Demo outcome:</a:t>
            </a:r>
          </a:p>
          <a:p>
            <a:pPr marL="18" indent="-10">
              <a:buChar char="•"/>
            </a:pPr>
            <a:r>
              <a:t>Dashboard and API use actual imported data.</a:t>
            </a:r>
          </a:p>
          <a:p>
            <a:pPr marL="18" indent="-10">
              <a:buChar char="•"/>
            </a:pPr>
            <a:r>
              <a:t>Filters, pagination and opportunity details are live.</a:t>
            </a:r>
          </a:p>
          <a:p>
            <a:pPr marL="18" indent="-10">
              <a:buChar char="•"/>
            </a:pPr>
            <a:r>
              <a:t>AI fallback remains safe when the provider is unavailable.</a:t>
            </a:r>
          </a:p>
          <a:p>
            <a:pPr marL="18" indent="-10">
              <a:buChar char="•"/>
            </a:pPr>
            <a:r>
              <a:t>57 automated tests and the production frontend build passed.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" indent="-12">
              <a:buChar char="•"/>
            </a:pPr>
            <a:r>
              <a:rPr sz="2800" dirty="0"/>
              <a:t>Reviewed five IEEE Access journal articles published from 2024–2026.</a:t>
            </a:r>
          </a:p>
          <a:p>
            <a:pPr marL="22" indent="-12">
              <a:buChar char="•"/>
            </a:pPr>
            <a:r>
              <a:rPr sz="2800" dirty="0"/>
              <a:t>Selection: peer-reviewed IEEE journal articles; conference papers were excluded.</a:t>
            </a:r>
          </a:p>
          <a:p>
            <a:pPr marL="22" indent="-12">
              <a:buChar char="•"/>
            </a:pPr>
            <a:r>
              <a:rPr sz="2800" dirty="0"/>
              <a:t>Methods span fuzzy MCDM, blockchain, linguistic risk assessment and machine-learning optimization.</a:t>
            </a:r>
          </a:p>
          <a:p>
            <a:pPr marL="22" indent="-12">
              <a:buChar char="•"/>
            </a:pPr>
            <a:r>
              <a:rPr sz="2800" dirty="0"/>
              <a:t>Gap: existing studies optimize isolated decisions; </a:t>
            </a:r>
            <a:r>
              <a:rPr sz="2800" dirty="0" err="1"/>
              <a:t>ProcureSight</a:t>
            </a:r>
            <a:r>
              <a:rPr sz="2800" dirty="0"/>
              <a:t> unifies analytics, opportunities and grounded explanations.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1/5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Haffar &amp; Ozceylan</a:t>
                      </a:r>
                    </a:p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Transparent supplier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Hybrid blockchain + reverse auction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Auditable, scalable selection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IEEE Access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Sustainable + leagile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Functional, scale and security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Traceable supplier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t>9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noGrp="1"/>
          </p:cNvSpPr>
          <p:nvPr/>
        </p:nvSpPr>
        <p:spPr>
          <a:xfrm>
            <a:off x="812800" y="3683296"/>
            <a:ext cx="1096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/>
              <a:t>ProcureSight takeaway:</a:t>
            </a:r>
          </a:p>
          <a:p>
            <a:pPr marL="18" indent="-10">
              <a:buChar char="•"/>
            </a:pPr>
            <a:r>
              <a:t>Supplier evaluation should combine cost, quality, delivery and sustainability—not price alone.</a:t>
            </a:r>
          </a:p>
          <a:p>
            <a:pPr marL="18" indent="-10">
              <a:buChar char="•"/>
            </a:pPr>
            <a:r>
              <a:t>Decision evidence must remain traceable and reviewable.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2/5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Runtuk et al.</a:t>
                      </a:r>
                    </a:p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Performance-based supplier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VIKOR vs Fuzzy MOORA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MOORA was faster and responsive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IEEE Access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Manufacturing case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Criteria weighting +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Transparent multi-metric ranking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/>
              <a:t>10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noGrp="1"/>
          </p:cNvSpPr>
          <p:nvPr/>
        </p:nvSpPr>
        <p:spPr>
          <a:xfrm>
            <a:off x="812800" y="3683296"/>
            <a:ext cx="1096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/>
              <a:t>ProcureSight takeaway:</a:t>
            </a:r>
          </a:p>
          <a:p>
            <a:pPr marL="18" indent="-10">
              <a:buChar char="•"/>
            </a:pPr>
            <a:r>
              <a:t>Supplier scores should expose criteria, weights and sensitivity.</a:t>
            </a:r>
          </a:p>
          <a:p>
            <a:pPr marL="18" indent="-10">
              <a:buChar char="•"/>
            </a:pPr>
            <a:r>
              <a:t>ProcureSight keeps ranking deterministic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3/5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1410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Qiu et al.</a:t>
                      </a:r>
                    </a:p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Supply-chain risk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PLTS + extended CRADIS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Handles uncertain judgments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IEEE Access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Sports-industry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Multi-criteria risk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Explainable risk ranking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394428-F1DC-E5F6-DB0C-7DE31F3D8A23}" type="slidenum">
              <a:t>11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noGrp="1"/>
          </p:cNvSpPr>
          <p:nvPr/>
        </p:nvSpPr>
        <p:spPr>
          <a:xfrm>
            <a:off x="812800" y="3683296"/>
            <a:ext cx="1096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/>
              <a:t>ProcureSight takeaway:</a:t>
            </a:r>
          </a:p>
          <a:p>
            <a:pPr marL="18" indent="-10">
              <a:buChar char="•"/>
            </a:pPr>
            <a:r>
              <a:t>Qualitative risk can support decisions when uncertainty is represented explicitly.</a:t>
            </a:r>
          </a:p>
          <a:p>
            <a:pPr marL="18" indent="-10">
              <a:buChar char="•"/>
            </a:pPr>
            <a:r>
              <a:t>ProcureSight uses verified operational metrics; richer risk models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4/5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Moretti et al.</a:t>
                      </a:r>
                    </a:p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 supplier criteria 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Least-to-Most Range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 weighting across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IEEE Access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 supplier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Two complementary 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Consistent priority scoring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B16885-0D3F-A391-B669-3211DB3B26E8}" type="slidenum">
              <a:t>12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noGrp="1"/>
          </p:cNvSpPr>
          <p:nvPr/>
        </p:nvSpPr>
        <p:spPr>
          <a:xfrm>
            <a:off x="812800" y="3683296"/>
            <a:ext cx="1096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/>
              <a:t>ProcureSight takeaway:</a:t>
            </a:r>
          </a:p>
          <a:p>
            <a:pPr marL="18" indent="-10">
              <a:buChar char="•"/>
            </a:pPr>
            <a:r>
              <a:t>Criteria weighting must remain consistent as the number of indicators grows.</a:t>
            </a:r>
          </a:p>
          <a:p>
            <a:pPr marL="18" indent="-10">
              <a:buChar char="•"/>
            </a:pPr>
            <a:r>
              <a:t>ProcureSight uses configurable deterministic thresholds and scoring.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SURVEY — PAPER 5/5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Research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Method /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finding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Shahsavary et al.</a:t>
                      </a:r>
                    </a:p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Distributed supply-chain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Random Forest + bi-objective ILP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Balances predicted risk and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IEEE Access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Automotive case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Country-risk prediction +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Risk-aware sourcing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rPr/>
              <a:t>13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noGrp="1"/>
          </p:cNvSpPr>
          <p:nvPr/>
        </p:nvSpPr>
        <p:spPr>
          <a:xfrm>
            <a:off x="812800" y="3683296"/>
            <a:ext cx="1096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/>
              <a:t>ProcureSight takeaway:</a:t>
            </a:r>
          </a:p>
          <a:p>
            <a:pPr marL="18" indent="-10">
              <a:buChar char="•"/>
            </a:pPr>
            <a:r>
              <a:t>Machine learning is most useful when its predictions feed a transparent decision model.</a:t>
            </a:r>
          </a:p>
          <a:p>
            <a:pPr marL="18" indent="-10">
              <a:buChar char="•"/>
            </a:pPr>
            <a:r>
              <a:t>ProcureSight keeps forecasting outside Phase 1 and does not claim predictive risk.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LITERATURE SYNTHESIS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Shared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ProcureSight relevance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Supplier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Papers 1, 2 and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Transparent multi-criteria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Supplier score + cost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Risk-aware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Papers 3 and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Uncertainty enters formal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Quality, delivery + contract signals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7921A4-25C4-3DB4-06B1-32693CEE2241}" type="slidenum">
              <a:rPr/>
              <a:t>14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noGrp="1"/>
          </p:cNvSpPr>
          <p:nvPr/>
        </p:nvSpPr>
        <p:spPr>
          <a:xfrm>
            <a:off x="812800" y="3683296"/>
            <a:ext cx="1096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 dirty="0"/>
              <a:t>Synthesis:</a:t>
            </a:r>
          </a:p>
          <a:p>
            <a:r>
              <a:rPr dirty="0"/>
              <a:t>• Recent IEEE research favors transparent, multi-criteria and risk-aware decision support.</a:t>
            </a:r>
          </a:p>
          <a:p>
            <a:r>
              <a:rPr dirty="0"/>
              <a:t>• The evidence supports deterministic analytics with human review—not autonomous procurement.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RESEARCH GAP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Observed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Evidence from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Why it 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Project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Siloed decision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Selection, risk and optimization remain separate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unified operational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spend-to-opportunity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Limited 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Rankings rarely narrate source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Adoption needs 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uses verified facts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A83FA91-883A-0168-8075-96CEB9DCA3C2}" type="slidenum">
              <a:rPr/>
              <a:t>15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noGrp="1"/>
          </p:cNvSpPr>
          <p:nvPr/>
        </p:nvSpPr>
        <p:spPr>
          <a:xfrm>
            <a:off x="812768" y="4419600"/>
            <a:ext cx="10965180" cy="952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/>
              <a:t>Gap addressed:</a:t>
            </a:r>
          </a:p>
          <a:p>
            <a:r>
              <a:t>• ProcureSight connects auditable calculations, configurable opportunities and grounded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211904"/>
            <a:ext cx="10668000" cy="661553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DESIGN IMPLICATIONS</a:t>
            </a:r>
            <a:endParaRPr sz="28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Content Placeholder 6"/>
          <p:cNvGraphicFramePr/>
          <p:nvPr/>
        </p:nvGraphicFramePr>
        <p:xfrm>
          <a:off x="812800" y="1802280"/>
          <a:ext cx="1061720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Literature 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Backend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AI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User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21">
                <a:tc>
                  <a:txBody>
                    <a:bodyPr/>
                    <a:lstStyle/>
                    <a:p>
                      <a:r>
                        <a:t>Multi-criteria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Price, quality, delivery + contract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performs no numerical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Explainable supplier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Risk-aware human judgment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 scoring +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Verified context + validated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Decision support, not autonomy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BF262-39B7-44AE-AD50-07784ABF60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t>First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900E8-40F4-FD2C-418F-4B63A92D4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9C7607-4BA3-B4DC-A00F-2E67A9FCFF7E}" type="slidenum">
              <a:t>16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F907D-EEA5-47B0-A3BE-A74A7FF9C4F4}"/>
              </a:ext>
            </a:extLst>
          </p:cNvPr>
          <p:cNvSpPr>
            <a:spLocks noGrp="1"/>
          </p:cNvSpPr>
          <p:nvPr/>
        </p:nvSpPr>
        <p:spPr>
          <a:xfrm>
            <a:off x="812800" y="3683296"/>
            <a:ext cx="109652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/>
              <a:t>Resulting architecture:</a:t>
            </a:r>
          </a:p>
          <a:p>
            <a:r>
              <a:t>• Deterministic analytics calculates facts; AI explains verified context; procurement professionals decide.</a:t>
            </a:r>
          </a:p>
        </p:txBody>
      </p:sp>
    </p:spTree>
    <p:extLst>
      <p:ext uri="{BB962C8B-B14F-4D97-AF65-F5344CB8AC3E}">
        <p14:creationId xmlns:p14="http://schemas.microsoft.com/office/powerpoint/2010/main" val="765274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CC27A-14F7-85DD-1D33-35BB884643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90F7333B-44AC-F7E9-D49D-FE92F45E0477}" type="slidenum">
              <a:t>17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20C7D-BD2C-F059-5056-8B99F4B276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r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1708</Words>
  <Application>Microsoft Macintosh PowerPoint</Application>
  <DocSecurity>0</DocSecurity>
  <PresentationFormat>Widescreen</PresentationFormat>
  <Paragraphs>339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Times New Roman</vt:lpstr>
      <vt:lpstr>Verdana</vt:lpstr>
      <vt:lpstr>Wingdings</vt:lpstr>
      <vt:lpstr>Profile</vt:lpstr>
      <vt:lpstr>PowerPoint Presentation</vt:lpstr>
      <vt:lpstr>INTRODUCTION</vt:lpstr>
      <vt:lpstr>PROJECT OVERVIEW &amp; OBJECTIVES/SCOPE</vt:lpstr>
      <vt:lpstr>EXISTING SYSTEM</vt:lpstr>
      <vt:lpstr>PROBLEM STATEMENT </vt:lpstr>
      <vt:lpstr>METHODOLOGY &amp; SYSTEM ARCHITECTURE</vt:lpstr>
      <vt:lpstr>END-TO-END USE CASE – LIVE DEMO</vt:lpstr>
      <vt:lpstr>LITERATURE SURVEY </vt:lpstr>
      <vt:lpstr>LITERATURE SURVEY — PAPER 1/5</vt:lpstr>
      <vt:lpstr>LITERATURE SURVEY — PAPER 2/5</vt:lpstr>
      <vt:lpstr>LITERATURE SURVEY — PAPER 3/5</vt:lpstr>
      <vt:lpstr>LITERATURE SURVEY — PAPER 4/5</vt:lpstr>
      <vt:lpstr>LITERATURE SURVEY — PAPER 5/5</vt:lpstr>
      <vt:lpstr>LITERATURE SYNTHESIS</vt:lpstr>
      <vt:lpstr>RESEARCH GAP</vt:lpstr>
      <vt:lpstr>DESIGN IMPLICATIONS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Uma Sridhar</cp:lastModifiedBy>
  <cp:revision>4</cp:revision>
  <dcterms:created xsi:type="dcterms:W3CDTF">2026-08-27T07:52:26Z</dcterms:created>
  <dcterms:modified xsi:type="dcterms:W3CDTF">2026-08-27T08:07:21Z</dcterms:modified>
</cp:coreProperties>
</file>