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d814768f04a6f" /><Relationship Type="http://schemas.openxmlformats.org/officeDocument/2006/relationships/extended-properties" Target="/docProps/app.xml" Id="R140e6a5c620a4218" /><Relationship Type="http://schemas.openxmlformats.org/officeDocument/2006/relationships/officeDocument" Target="/ppt/presentation.xml" Id="R81134f6535ef4e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01a3e84df4057"/>
  </p:sldMasterIdLst>
  <p:notesMasterIdLst>
    <p:notesMasterId xmlns:r="http://schemas.openxmlformats.org/officeDocument/2006/relationships" r:id="R917d4ea1ca7246d9"/>
  </p:notesMasterIdLst>
  <p:sldIdLst>
    <p:sldId xmlns:r="http://schemas.openxmlformats.org/officeDocument/2006/relationships" id="256" r:id="Rdf5d72aa79924259"/>
    <p:sldId xmlns:r="http://schemas.openxmlformats.org/officeDocument/2006/relationships" id="257" r:id="R05ecec186e604614"/>
    <p:sldId xmlns:r="http://schemas.openxmlformats.org/officeDocument/2006/relationships" id="258" r:id="R6b320dee21f44b0f"/>
    <p:sldId xmlns:r="http://schemas.openxmlformats.org/officeDocument/2006/relationships" id="259" r:id="Ra2bd0a8001554de7"/>
    <p:sldId xmlns:r="http://schemas.openxmlformats.org/officeDocument/2006/relationships" id="260" r:id="Rb6642a974a3f4bbb"/>
    <p:sldId xmlns:r="http://schemas.openxmlformats.org/officeDocument/2006/relationships" id="261" r:id="R0cf687737d15462d"/>
    <p:sldId xmlns:r="http://schemas.openxmlformats.org/officeDocument/2006/relationships" id="262" r:id="R3f7ca6de2de147d3"/>
    <p:sldId xmlns:r="http://schemas.openxmlformats.org/officeDocument/2006/relationships" id="263" r:id="R41778e26e03e4876"/>
    <p:sldId xmlns:r="http://schemas.openxmlformats.org/officeDocument/2006/relationships" id="264" r:id="Rc6176a0424114708"/>
    <p:sldId xmlns:r="http://schemas.openxmlformats.org/officeDocument/2006/relationships" id="265" r:id="Rbb2e85a6b7614b22"/>
    <p:sldId xmlns:r="http://schemas.openxmlformats.org/officeDocument/2006/relationships" id="266" r:id="R7e808f8971254dfe"/>
    <p:sldId xmlns:r="http://schemas.openxmlformats.org/officeDocument/2006/relationships" id="267" r:id="R69915e5b6b3f43ee"/>
    <p:sldId xmlns:r="http://schemas.openxmlformats.org/officeDocument/2006/relationships" id="268" r:id="R2ced2a3f4fa042df"/>
    <p:sldId xmlns:r="http://schemas.openxmlformats.org/officeDocument/2006/relationships" id="269" r:id="Rca4714ad3384429b"/>
    <p:sldId xmlns:r="http://schemas.openxmlformats.org/officeDocument/2006/relationships" id="270" r:id="R90d3f7a26a214fa6"/>
    <p:sldId xmlns:r="http://schemas.openxmlformats.org/officeDocument/2006/relationships" id="271" r:id="R6c2a433fbcf64bb7"/>
    <p:sldId xmlns:r="http://schemas.openxmlformats.org/officeDocument/2006/relationships" id="272" r:id="R2bb9f975c2154d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7c13c5319e4caa" /><Relationship Type="http://schemas.openxmlformats.org/officeDocument/2006/relationships/slideMaster" Target="/ppt/slideMasters/slideMaster1.xml" Id="Re2d01a3e84df4057" /><Relationship Type="http://schemas.openxmlformats.org/officeDocument/2006/relationships/notesMaster" Target="/ppt/notesMasters/notesMaster1.xml" Id="R917d4ea1ca7246d9" /><Relationship Type="http://schemas.openxmlformats.org/officeDocument/2006/relationships/presProps" Target="/ppt/presProps.xml" Id="Re153d0f70cfe472f" /><Relationship Type="http://schemas.openxmlformats.org/officeDocument/2006/relationships/viewProps" Target="/ppt/viewProps.xml" Id="R562f606366df47a3" /><Relationship Type="http://schemas.openxmlformats.org/officeDocument/2006/relationships/tableStyles" Target="/ppt/tableStyles.xml" Id="R39a7f34b1b724e90" /><Relationship Type="http://schemas.openxmlformats.org/officeDocument/2006/relationships/slide" Target="/ppt/slides/slide1.xml" Id="Rdf5d72aa79924259" /><Relationship Type="http://schemas.openxmlformats.org/officeDocument/2006/relationships/slide" Target="/ppt/slides/slide2.xml" Id="R05ecec186e604614" /><Relationship Type="http://schemas.openxmlformats.org/officeDocument/2006/relationships/slide" Target="/ppt/slides/slide3.xml" Id="R6b320dee21f44b0f" /><Relationship Type="http://schemas.openxmlformats.org/officeDocument/2006/relationships/slide" Target="/ppt/slides/slide4.xml" Id="Ra2bd0a8001554de7" /><Relationship Type="http://schemas.openxmlformats.org/officeDocument/2006/relationships/slide" Target="/ppt/slides/slide5.xml" Id="Rb6642a974a3f4bbb" /><Relationship Type="http://schemas.openxmlformats.org/officeDocument/2006/relationships/slide" Target="/ppt/slides/slide6.xml" Id="R0cf687737d15462d" /><Relationship Type="http://schemas.openxmlformats.org/officeDocument/2006/relationships/slide" Target="/ppt/slides/slide7.xml" Id="R3f7ca6de2de147d3" /><Relationship Type="http://schemas.openxmlformats.org/officeDocument/2006/relationships/slide" Target="/ppt/slides/slide8.xml" Id="R41778e26e03e4876" /><Relationship Type="http://schemas.openxmlformats.org/officeDocument/2006/relationships/slide" Target="/ppt/slides/slide9.xml" Id="Rc6176a0424114708" /><Relationship Type="http://schemas.openxmlformats.org/officeDocument/2006/relationships/slide" Target="/ppt/slides/slide10.xml" Id="Rbb2e85a6b7614b22" /><Relationship Type="http://schemas.openxmlformats.org/officeDocument/2006/relationships/slide" Target="/ppt/slides/slide11.xml" Id="R7e808f8971254dfe" /><Relationship Type="http://schemas.openxmlformats.org/officeDocument/2006/relationships/slide" Target="/ppt/slides/slide12.xml" Id="R69915e5b6b3f43ee" /><Relationship Type="http://schemas.openxmlformats.org/officeDocument/2006/relationships/slide" Target="/ppt/slides/slide13.xml" Id="R2ced2a3f4fa042df" /><Relationship Type="http://schemas.openxmlformats.org/officeDocument/2006/relationships/slide" Target="/ppt/slides/slide14.xml" Id="Rca4714ad3384429b" /><Relationship Type="http://schemas.openxmlformats.org/officeDocument/2006/relationships/slide" Target="/ppt/slides/slide15.xml" Id="R90d3f7a26a214fa6" /><Relationship Type="http://schemas.openxmlformats.org/officeDocument/2006/relationships/slide" Target="/ppt/slides/slide16.xml" Id="R6c2a433fbcf64bb7" /><Relationship Type="http://schemas.openxmlformats.org/officeDocument/2006/relationships/slide" Target="/ppt/slides/slide17.xml" Id="R2bb9f975c2154d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e3159e15c0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6106cb493c4f31" /><Relationship Type="http://schemas.openxmlformats.org/officeDocument/2006/relationships/notesMaster" Target="/ppt/notesMasters/notesMaster1.xml" Id="Rf9fd2dc509724a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3f23ec1494e6c" /><Relationship Type="http://schemas.openxmlformats.org/officeDocument/2006/relationships/notesMaster" Target="/ppt/notesMasters/notesMaster1.xml" Id="Rba1d538f49ec40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71af7b89a8404d" /><Relationship Type="http://schemas.openxmlformats.org/officeDocument/2006/relationships/notesMaster" Target="/ppt/notesMasters/notesMaster1.xml" Id="R3dd968d4e01d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fd3716d1964d9e" /><Relationship Type="http://schemas.openxmlformats.org/officeDocument/2006/relationships/notesMaster" Target="/ppt/notesMasters/notesMaster1.xml" Id="R33e90d558622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bae9ac0c1e4e41" /><Relationship Type="http://schemas.openxmlformats.org/officeDocument/2006/relationships/notesMaster" Target="/ppt/notesMasters/notesMaster1.xml" Id="R627ecb0a47a24a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3748823cdf4e88" /><Relationship Type="http://schemas.openxmlformats.org/officeDocument/2006/relationships/notesMaster" Target="/ppt/notesMasters/notesMaster1.xml" Id="R9fa2cd5ae687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c8eabd032a4095" /><Relationship Type="http://schemas.openxmlformats.org/officeDocument/2006/relationships/notesMaster" Target="/ppt/notesMasters/notesMaster1.xml" Id="R02213c711b6846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ea12f0b78d4b52" /><Relationship Type="http://schemas.openxmlformats.org/officeDocument/2006/relationships/notesMaster" Target="/ppt/notesMasters/notesMaster1.xml" Id="R662f9ccfeb754b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5633d63b7f4b63" /><Relationship Type="http://schemas.openxmlformats.org/officeDocument/2006/relationships/notesMaster" Target="/ppt/notesMasters/notesMaster1.xml" Id="Ra0c8606d76a947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fc7438ba004fc6" /><Relationship Type="http://schemas.openxmlformats.org/officeDocument/2006/relationships/notesMaster" Target="/ppt/notesMasters/notesMaster1.xml" Id="R0f560936a3b845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ed3ed68d5498c" /><Relationship Type="http://schemas.openxmlformats.org/officeDocument/2006/relationships/notesMaster" Target="/ppt/notesMasters/notesMaster1.xml" Id="R81deee583bf44f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7b002dd6c34358" /><Relationship Type="http://schemas.openxmlformats.org/officeDocument/2006/relationships/notesMaster" Target="/ppt/notesMasters/notesMaster1.xml" Id="R0a6c2a159ea742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551fc5ede5411a" /><Relationship Type="http://schemas.openxmlformats.org/officeDocument/2006/relationships/notesMaster" Target="/ppt/notesMasters/notesMaster1.xml" Id="Rd1d678dbb96e4b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09ab46e6524cbf" /><Relationship Type="http://schemas.openxmlformats.org/officeDocument/2006/relationships/notesMaster" Target="/ppt/notesMasters/notesMaster1.xml" Id="R44ba08f20e4b40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abbb324dc949df" /><Relationship Type="http://schemas.openxmlformats.org/officeDocument/2006/relationships/notesMaster" Target="/ppt/notesMasters/notesMaster1.xml" Id="R4743e48428f543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8da6074e1043d4" /><Relationship Type="http://schemas.openxmlformats.org/officeDocument/2006/relationships/notesMaster" Target="/ppt/notesMasters/notesMaster1.xml" Id="Rca5fb68e586f43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43a7e452e24950" /><Relationship Type="http://schemas.openxmlformats.org/officeDocument/2006/relationships/notesMaster" Target="/ppt/notesMasters/notesMaster1.xml" Id="Rb8f49f6f84a4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ProcureSight First Review presentation.</a:t>
            </a:r>
          </a:p>
          <a:p xmlns:a="http://schemas.openxmlformats.org/drawingml/2006/main">
            <a:r>
              <a:t>Replace the supervisor and roll-number placeholders before submission.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survey covers 16 papers from 2021-2025.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See the DOI and publication links in slides 9-16.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https://doi.org/10.1016/j.jbusres.2020.09.009</a:t>
            </a:r>
          </a:p>
          <a:p xmlns:a="http://schemas.openxmlformats.org/drawingml/2006/main">
            <a:r>
              <a:t>- https://doi.org/10.1016/j.ijpe.2021.108250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https://doi.org/10.1016/j.eswa.2021.114702</a:t>
            </a:r>
          </a:p>
          <a:p xmlns:a="http://schemas.openxmlformats.org/drawingml/2006/main">
            <a:r>
              <a:t>- https://doi.org/10.1016/j.jbusres.2020.11.050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https://doi.org/10.1016/j.pursup.2023.100823</a:t>
            </a:r>
          </a:p>
          <a:p xmlns:a="http://schemas.openxmlformats.org/drawingml/2006/main">
            <a:r>
              <a:t>- https://doi.org/10.1016/j.pursup.2024.100896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https://doi.org/10.1504/IJPM.2024.135175</a:t>
            </a:r>
          </a:p>
          <a:p xmlns:a="http://schemas.openxmlformats.org/drawingml/2006/main">
            <a:r>
              <a:t>- https://doi.org/10.1287/inte.2023.0099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https://doi.org/10.1016/j.sca.2024.100074</a:t>
            </a:r>
          </a:p>
          <a:p xmlns:a="http://schemas.openxmlformats.org/drawingml/2006/main">
            <a:r>
              <a:t>- https://doi.org/10.4018/IJDSST.292449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https://arxiv.org/abs/2303.12765</a:t>
            </a:r>
          </a:p>
          <a:p xmlns:a="http://schemas.openxmlformats.org/drawingml/2006/main">
            <a:r>
              <a:t>- https://arxiv.org/abs/2210.11953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https://arxiv.org/abs/2304.10105</a:t>
            </a:r>
          </a:p>
          <a:p xmlns:a="http://schemas.openxmlformats.org/drawingml/2006/main">
            <a:r>
              <a:t>- https://doi.org/10.1007/978-3-031-53227-6_8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https://arxiv.org/abs/2410.09077</a:t>
            </a:r>
          </a:p>
          <a:p xmlns:a="http://schemas.openxmlformats.org/drawingml/2006/main">
            <a:r>
              <a:t>- https://doi.org/10.4018/JGIM.335125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7faae368d43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6e04d8ef446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f131fd1484a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000b962df49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f68035d9149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04ce9e6724f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46b701ba44c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abfbd32684e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dae4b0b6d44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354821b14411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76030c4ca4da2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3950"/>
            <a:ext cx="10363200" cy="109538"/>
          </a:xfrm>
          <a:custGeom xmlns:a="http://schemas.openxmlformats.org/drawingml/2006/main"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512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D40E0F-0195-446A-84A2-FF7DB0DF934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990600"/>
            <a:ext cx="103632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12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6CF682-C4D2-482D-83AC-8969458A72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30400" y="3429000"/>
            <a:ext cx="93472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Font typeface="Wingdings"/>
              <a:buNone/>
              <a:defRPr sz="2800"/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914400" y="6248400"/>
            <a:ext cx="25400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248400"/>
            <a:ext cx="38608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248400"/>
            <a:ext cx="25400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8F95DA7-9E0E-467D-A139-0471DC1777C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29D19-E5F1-4727-961C-169523DA3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23457F-0716-4763-BCA4-EB83C9DE18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DC2143B-610F-499C-A392-DFFBE135A7B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459B53-47C9-48B6-8537-5F568A500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3D8C5D-DEC2-4CD6-84C7-8D5001D53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75C213C-AC18-4D5A-BA73-4550FF50B84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DCD9F1-B400-4934-9305-146187649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08D57A-F232-480B-B9C2-604E471529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55651" y="1752600"/>
            <a:ext cx="5232400" cy="426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9972DC-0F60-41EE-BAD9-0FA8B21516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1251" y="1752600"/>
            <a:ext cx="5232400" cy="426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A8ED4EA-E359-45F1-B86A-A40772B25C2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ED07CA-4AE6-4A8F-A979-97F3E1800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1BCD9F-0458-477A-B8A6-87289502B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FF6084C-2187-4446-89BA-C7497E84F2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ED7B1DC-549E-4C33-94B2-0D3F9E36FE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2CA10D-6511-4B12-9097-EB1CD51077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637AD66-1F60-49BE-A2E9-D91D10CB91F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C7FC7-E1B0-474D-999C-409269CC0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583B680-F650-469F-A231-392F163461F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D537315-F462-4C74-88B4-A900525A3F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9662ED-8470-4AE5-9596-2D8AE95BD7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2FD3FE-13C3-4AF3-ABD0-9C3277E2F5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677807-57D6-4861-94B4-026E024E8B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79B2829-DA13-4801-8FBD-6D5729CB959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BE36CB-42C6-470E-8492-347244D63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7AD09E0-2E7E-49E9-B527-832FA83E2E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A9743F-78C8-43A2-9A7E-FD2CB09BB7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5B0EEF8-84AE-4BCB-9844-5B22523396C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6D13E-39F7-4546-9082-8D1C5814F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A121AA-FC00-4572-AB73-EC0A56940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367E6EB-B6CA-430B-8761-75C737CF7AF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BE1BFE4-F959-4AFD-8A88-E30C3F1EC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65118" y="304800"/>
            <a:ext cx="2669116" cy="5715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140E66-E510-4AAD-8F1E-BCC10B7CC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651" y="304800"/>
            <a:ext cx="7806267" cy="5715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031276A-AAE7-4DAF-B5DC-CD9EE96B703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c3b40934b2844ab" /><Relationship Type="http://schemas.openxmlformats.org/officeDocument/2006/relationships/theme" Target="/ppt/slideMasters/theme/theme2.xml" Id="Re8060582e8e44d6d" /><Relationship Type="http://schemas.openxmlformats.org/officeDocument/2006/relationships/slideLayout" Target="/ppt/slideLayouts/slideLayout1.xml" Id="Rd288591f22474604" /><Relationship Type="http://schemas.openxmlformats.org/officeDocument/2006/relationships/slideLayout" Target="/ppt/slideLayouts/slideLayout2.xml" Id="Raaa367c2da87407a" /><Relationship Type="http://schemas.openxmlformats.org/officeDocument/2006/relationships/slideLayout" Target="/ppt/slideLayouts/slideLayout3.xml" Id="R4e8c7e353f2c47e5" /><Relationship Type="http://schemas.openxmlformats.org/officeDocument/2006/relationships/slideLayout" Target="/ppt/slideLayouts/slideLayout4.xml" Id="R140cd6742e374763" /><Relationship Type="http://schemas.openxmlformats.org/officeDocument/2006/relationships/slideLayout" Target="/ppt/slideLayouts/slideLayout5.xml" Id="R54090d0f9bf54513" /><Relationship Type="http://schemas.openxmlformats.org/officeDocument/2006/relationships/slideLayout" Target="/ppt/slideLayouts/slideLayout6.xml" Id="Rc7db1f9b15c144f8" /><Relationship Type="http://schemas.openxmlformats.org/officeDocument/2006/relationships/slideLayout" Target="/ppt/slideLayouts/slideLayout7.xml" Id="R4102703ebb4b4c38" /><Relationship Type="http://schemas.openxmlformats.org/officeDocument/2006/relationships/slideLayout" Target="/ppt/slideLayouts/slideLayout8.xml" Id="R01b3917a436e4b54" /><Relationship Type="http://schemas.openxmlformats.org/officeDocument/2006/relationships/slideLayout" Target="/ppt/slideLayouts/slideLayout9.xml" Id="R537120adcff7405e" /><Relationship Type="http://schemas.openxmlformats.org/officeDocument/2006/relationships/slideLayout" Target="/ppt/slideLayouts/slideLayout10.xml" Id="Rb7efbb59ca984545" /><Relationship Type="http://schemas.openxmlformats.org/officeDocument/2006/relationships/slideLayout" Target="/ppt/slideLayouts/slideLayout11.xml" Id="R7b642de7fcec448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4c3b40934b2844ab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6233" y="304801"/>
            <a:ext cx="10668000" cy="121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651" y="1752600"/>
            <a:ext cx="106680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66864"/>
            <a:ext cx="10610851" cy="109537"/>
          </a:xfrm>
          <a:custGeom xmlns:a="http://schemas.openxmlformats.org/drawingml/2006/main"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1029" name="Line 5">
            <a:extLst xmlns:a="http://schemas.openxmlformats.org/drawingml/2006/main"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2800" y="6172200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410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12800" y="6245225"/>
            <a:ext cx="264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10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10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64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  <a:fld id="{756AFA5A-A15D-402B-9810-66A481E9819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8591f22474604"/>
    <p:sldLayoutId xmlns:r="http://schemas.openxmlformats.org/officeDocument/2006/relationships" id="2147483650" r:id="Raaa367c2da87407a"/>
    <p:sldLayoutId xmlns:r="http://schemas.openxmlformats.org/officeDocument/2006/relationships" id="2147483651" r:id="R4e8c7e353f2c47e5"/>
    <p:sldLayoutId xmlns:r="http://schemas.openxmlformats.org/officeDocument/2006/relationships" id="2147483652" r:id="R140cd6742e374763"/>
    <p:sldLayoutId xmlns:r="http://schemas.openxmlformats.org/officeDocument/2006/relationships" id="2147483653" r:id="R54090d0f9bf54513"/>
    <p:sldLayoutId xmlns:r="http://schemas.openxmlformats.org/officeDocument/2006/relationships" id="2147483654" r:id="Rc7db1f9b15c144f8"/>
    <p:sldLayoutId xmlns:r="http://schemas.openxmlformats.org/officeDocument/2006/relationships" id="2147483655" r:id="R4102703ebb4b4c38"/>
    <p:sldLayoutId xmlns:r="http://schemas.openxmlformats.org/officeDocument/2006/relationships" id="2147483656" r:id="R01b3917a436e4b54"/>
    <p:sldLayoutId xmlns:r="http://schemas.openxmlformats.org/officeDocument/2006/relationships" id="2147483657" r:id="R537120adcff7405e"/>
    <p:sldLayoutId xmlns:r="http://schemas.openxmlformats.org/officeDocument/2006/relationships" id="2147483658" r:id="Rb7efbb59ca984545"/>
    <p:sldLayoutId xmlns:r="http://schemas.openxmlformats.org/officeDocument/2006/relationships" id="2147483659" r:id="R7b642de7fcec4481"/>
  </p:sldLayoutIdLst>
  <p:hf hdr="0"/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30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908050" indent="-436563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04925" indent="-395288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23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93863" indent="-38735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939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511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3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5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27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15eee6c3840ee" /><Relationship Type="http://schemas.openxmlformats.org/officeDocument/2006/relationships/image" Target="/ppt/media/image.png" Id="R9408e035eb814386" /><Relationship Type="http://schemas.openxmlformats.org/officeDocument/2006/relationships/image" Target="/ppt/media/image2.png" Id="Rfb568e201e2746c8" /><Relationship Type="http://schemas.openxmlformats.org/officeDocument/2006/relationships/image" Target="/ppt/media/image3.png" Id="R42ef284a291447f9" /><Relationship Type="http://schemas.openxmlformats.org/officeDocument/2006/relationships/notesSlide" Target="/ppt/notesSlides/notesSlide1.xml" Id="R5744392b47a1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2eb9800814594" /><Relationship Type="http://schemas.openxmlformats.org/officeDocument/2006/relationships/image" Target="/ppt/media/image.png" Id="Rb2b87e6604e348bd" /><Relationship Type="http://schemas.openxmlformats.org/officeDocument/2006/relationships/notesSlide" Target="/ppt/notesSlides/notesSlide2.xml" Id="R2388c52fac464f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0dfc6282c04f57" /><Relationship Type="http://schemas.openxmlformats.org/officeDocument/2006/relationships/notesSlide" Target="/ppt/notesSlides/notesSlide3.xml" Id="R6c95744a5ab642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b81dbd3b624e28" /><Relationship Type="http://schemas.openxmlformats.org/officeDocument/2006/relationships/notesSlide" Target="/ppt/notesSlides/notesSlide4.xml" Id="R3e57e2a27fe3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6d3a2d7414582" /><Relationship Type="http://schemas.openxmlformats.org/officeDocument/2006/relationships/image" Target="/ppt/media/image.png" Id="R17f22110974342ae" /><Relationship Type="http://schemas.openxmlformats.org/officeDocument/2006/relationships/notesSlide" Target="/ppt/notesSlides/notesSlide5.xml" Id="Rb01b2241fc2f44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38f3825a584bc5" /><Relationship Type="http://schemas.openxmlformats.org/officeDocument/2006/relationships/image" Target="/ppt/media/image.png" Id="Re0254acf94864f4d" /><Relationship Type="http://schemas.openxmlformats.org/officeDocument/2006/relationships/notesSlide" Target="/ppt/notesSlides/notesSlide6.xml" Id="R8e94184cb6d7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dd6a5edaf54b2b" /><Relationship Type="http://schemas.openxmlformats.org/officeDocument/2006/relationships/image" Target="/ppt/media/image.png" Id="R29130bec1eea4a72" /><Relationship Type="http://schemas.openxmlformats.org/officeDocument/2006/relationships/notesSlide" Target="/ppt/notesSlides/notesSlide7.xml" Id="Rd51695ebe05c48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276da790da4644" /><Relationship Type="http://schemas.openxmlformats.org/officeDocument/2006/relationships/image" Target="/ppt/media/image.png" Id="R120cedd343af4d75" /><Relationship Type="http://schemas.openxmlformats.org/officeDocument/2006/relationships/notesSlide" Target="/ppt/notesSlides/notesSlide8.xml" Id="Rcb3733427d4b4c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958ac9ba04b18" /><Relationship Type="http://schemas.openxmlformats.org/officeDocument/2006/relationships/image" Target="/ppt/media/image.png" Id="R8f9b8e0d84c445fe" /><Relationship Type="http://schemas.openxmlformats.org/officeDocument/2006/relationships/notesSlide" Target="/ppt/notesSlides/notesSlide9.xml" Id="R6e083ef554a14c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718892aa941e1" /><Relationship Type="http://schemas.openxmlformats.org/officeDocument/2006/relationships/image" Target="/ppt/media/image.png" Id="R8281bf0fa9ae4e08" /><Relationship Type="http://schemas.openxmlformats.org/officeDocument/2006/relationships/notesSlide" Target="/ppt/notesSlides/notesSlide10.xml" Id="Rf81d890c45b548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98e62a60144e8f" /><Relationship Type="http://schemas.openxmlformats.org/officeDocument/2006/relationships/image" Target="/ppt/media/image.png" Id="R1277d074c75a4320" /><Relationship Type="http://schemas.openxmlformats.org/officeDocument/2006/relationships/notesSlide" Target="/ppt/notesSlides/notesSlide11.xml" Id="R353f961b9e7f40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4d91526e54a37" /><Relationship Type="http://schemas.openxmlformats.org/officeDocument/2006/relationships/image" Target="/ppt/media/image.png" Id="R4c4c0d68a373459a" /><Relationship Type="http://schemas.openxmlformats.org/officeDocument/2006/relationships/notesSlide" Target="/ppt/notesSlides/notesSlide12.xml" Id="Re857192b9d2b46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2fd8e0dca4653" /><Relationship Type="http://schemas.openxmlformats.org/officeDocument/2006/relationships/image" Target="/ppt/media/image.png" Id="Ra2ddd2e9abe544a1" /><Relationship Type="http://schemas.openxmlformats.org/officeDocument/2006/relationships/notesSlide" Target="/ppt/notesSlides/notesSlide13.xml" Id="R69509d1d2a7c43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6d143977d94cc3" /><Relationship Type="http://schemas.openxmlformats.org/officeDocument/2006/relationships/image" Target="/ppt/media/image.png" Id="Rffbbcaed78364d90" /><Relationship Type="http://schemas.openxmlformats.org/officeDocument/2006/relationships/notesSlide" Target="/ppt/notesSlides/notesSlide14.xml" Id="R2421a7b740e848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48b822be784450" /><Relationship Type="http://schemas.openxmlformats.org/officeDocument/2006/relationships/image" Target="/ppt/media/image.png" Id="R459900dbf1254d9a" /><Relationship Type="http://schemas.openxmlformats.org/officeDocument/2006/relationships/notesSlide" Target="/ppt/notesSlides/notesSlide15.xml" Id="R169cb7e9b44c43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db2a68f99445f" /><Relationship Type="http://schemas.openxmlformats.org/officeDocument/2006/relationships/image" Target="/ppt/media/image.png" Id="R453a4556961c4f7e" /><Relationship Type="http://schemas.openxmlformats.org/officeDocument/2006/relationships/notesSlide" Target="/ppt/notesSlides/notesSlide16.xml" Id="Rd956616697d14c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2c0d52fbd4bb8" /><Relationship Type="http://schemas.openxmlformats.org/officeDocument/2006/relationships/notesSlide" Target="/ppt/notesSlides/notesSlide17.xml" Id="Rf59dc1b85cca458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9408e035eb814386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8e201e2746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1491" y="64077"/>
            <a:ext cx="1000125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12" y="2530618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003" lnSpcReduction="2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ProcureSight</a:t>
            </a:r>
          </a:p>
          <a:p xmlns:a="http://schemas.openxmlformats.org/drawingml/2006/main">
            <a:r>
              <a:rPr sz="40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AI-Based Procurement Spend Analytics</a:t>
            </a:r>
          </a:p>
          <a:p xmlns:a="http://schemas.openxmlformats.org/drawingml/2006/main">
            <a:r>
              <a:rPr sz="40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SDG 8 • SDG 9 • SDG 12</a:t>
            </a:r>
          </a:p>
        </p:txBody>
      </p:sp>
      <p:sp>
        <p:nvSpPr>
          <p:cNvPr id="10" name="TextBox 1">
            <a:extLst xmlns:a="http://schemas.openxmlformats.org/drawingml/2006/main"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9" y="5183902"/>
            <a:ext cx="3429000" cy="830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ClrTx/>
              <a:buFontTx/>
              <a:buNone/>
            </a:pPr>
            <a:r>
              <a: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Supervisor: &lt;NAME, DESIGNATION&gt;</a:t>
            </a:r>
          </a:p>
        </p:txBody>
      </p:sp>
      <p:sp>
        <p:nvSpPr>
          <p:cNvPr id="11" name="TextBox 1">
            <a:extLst xmlns:a="http://schemas.openxmlformats.org/drawingml/2006/main"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112" y="5183902"/>
            <a:ext cx="3505200" cy="830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ClrTx/>
              <a:buFontTx/>
              <a:buNone/>
            </a:pPr>
            <a:r>
              <a: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Student: Anirudh | Roll No.: &lt;ROLL NO.&gt;</a:t>
            </a:r>
          </a:p>
        </p:txBody>
      </p:sp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91" y="1213137"/>
            <a:ext cx="10515600" cy="722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f284a291447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4077"/>
            <a:ext cx="3756758" cy="12135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b2b87e6604e348bd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Procurement decisions require clean visibility into spend, suppliers, contracts, quality and delivery.</a:t>
            </a:r>
          </a:p>
          <a:p xmlns:a="http://schemas.openxmlformats.org/drawingml/2006/main">
            <a:pPr marL="22" indent="-12">
              <a:buChar char="•"/>
            </a:pPr>
            <a:r>
              <a:t>Raw purchase-order exports are difficult to validate, normalize and analyze consistently.</a:t>
            </a:r>
          </a:p>
          <a:p xmlns:a="http://schemas.openxmlformats.org/drawingml/2006/main">
            <a:pPr marL="22" indent="-12">
              <a:buChar char="•"/>
            </a:pPr>
            <a:r>
              <a:t>ProcureSight converts 47,128 purchase orders into verified decision intelligence.</a:t>
            </a:r>
          </a:p>
          <a:p xmlns:a="http://schemas.openxmlformats.org/drawingml/2006/main">
            <a:pPr marL="22" indent="-12">
              <a:buChar char="•"/>
            </a:pPr>
            <a:r>
              <a:t>Deterministic analytics remain the source of truth; AI only explains confirmed findings.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D7DC03-923D-4213-930D-3AF1F5ADA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PROJECT OVERVIEW &amp; OBJECTIVES/SCOPE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99CBC8-2C97-4FF2-93D4-4BBC39ECF6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C35582-96D8-4CC6-BCC2-7D4D0C1877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0E3463-C83A-463B-8998-212AA352DC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02359C0-8A7A-196E-DD58-8E6569619F09}" type="slidenum">
              <a:t>3</a:t>
            </a:fld>
            <a:endParaRPr/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E2B662-9786-4797-88B4-C9BC1152E5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60367" y="1600000"/>
            <a:ext cx="10271266" cy="2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Goal: deliver a procurement analytics and cost-opportunity platform.</a:t>
            </a:r>
          </a:p>
          <a:p xmlns:a="http://schemas.openxmlformats.org/drawingml/2006/main">
            <a:pPr marL="22" indent="-12">
              <a:buChar char="•"/>
            </a:pPr>
            <a:r>
              <a:t>Objectives: validated ingestion, spend and supplier KPIs, price benchmarks and explainable opportunities.</a:t>
            </a:r>
          </a:p>
          <a:p xmlns:a="http://schemas.openxmlformats.org/drawingml/2006/main">
            <a:pPr marL="22" indent="-12">
              <a:buChar char="•"/>
            </a:pPr>
            <a:r>
              <a:t>Scope: PostgreSQL, FastAPI, React and guarded AI recommendations.</a:t>
            </a:r>
          </a:p>
          <a:p xmlns:a="http://schemas.openxmlformats.org/drawingml/2006/main">
            <a:pPr marL="22" indent="-12">
              <a:buChar char="•"/>
            </a:pPr>
            <a:r>
              <a:t>Excludes: forecasting, anomaly detection, external prices and autonomous purchasing.</a:t>
            </a:r>
          </a:p>
        </p:txBody>
      </p:sp>
    </p:spTree>
    <p:extLst>
      <p:ext uri="{BB962C8B-B14F-4D97-AF65-F5344CB8AC3E}">
        <p14:creationId xmlns:p14="http://schemas.microsoft.com/office/powerpoint/2010/main" val="17448662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ERP exports and spreadsheets provide fragmented or retrospective procurement views.</a:t>
            </a:r>
          </a:p>
          <a:p xmlns:a="http://schemas.openxmlformats.org/drawingml/2006/main">
            <a:pPr marL="22" indent="-12">
              <a:buChar char="•"/>
            </a:pPr>
            <a:r>
              <a:t>Commercial suites can be costly and opaque for academic evaluation.</a:t>
            </a:r>
          </a:p>
          <a:p xmlns:a="http://schemas.openxmlformats.org/drawingml/2006/main">
            <a:pPr marL="22" indent="-12">
              <a:buChar char="•"/>
            </a:pPr>
            <a:r>
              <a:t>Manual analysis struggles to connect price, contract, quality and delivery signals.</a:t>
            </a:r>
          </a:p>
          <a:p xmlns:a="http://schemas.openxmlformats.org/drawingml/2006/main">
            <a:pPr marL="22" indent="-12">
              <a:buChar char="•"/>
            </a:pPr>
            <a:r>
              <a:t>Static dashboards show totals but rarely explain how cost opportunities were derived.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300325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17f22110974342ae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STATEMENT 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Organizations cannot reliably identify overspending, off-contract leakage, concentration and weak supplier performance from raw PO data alone.</a:t>
            </a:r>
          </a:p>
          <a:p xmlns:a="http://schemas.openxmlformats.org/drawingml/2006/main">
            <a:pPr marL="22" indent="-12">
              <a:buChar char="•"/>
            </a:pPr>
            <a:r>
              <a:t>Manual reviews are slow and inconsistent across 47,128 transactions.</a:t>
            </a:r>
          </a:p>
          <a:p xmlns:a="http://schemas.openxmlformats.org/drawingml/2006/main">
            <a:pPr marL="22" indent="-12">
              <a:buChar char="•"/>
            </a:pPr>
            <a:r>
              <a:t>Unconstrained AI can invent prices or savings; procurement decisions require traceable calculations and human review.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e0254acf94864f4d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METHODOLOGY &amp; SYSTEM ARCHITECTURE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Method: validate → normalize → aggregate → benchmark → prioritize.</a:t>
            </a:r>
          </a:p>
          <a:p xmlns:a="http://schemas.openxmlformats.org/drawingml/2006/main">
            <a:pPr marL="22" indent="-12">
              <a:buChar char="•"/>
            </a:pPr>
            <a:r>
              <a:t>Data: 47,128 POs; 106 suppliers; 10 categories; 50 items; 5 units.</a:t>
            </a:r>
          </a:p>
          <a:p xmlns:a="http://schemas.openxmlformats.org/drawingml/2006/main">
            <a:pPr marL="22" indent="-12">
              <a:buChar char="•"/>
            </a:pPr>
            <a:r>
              <a:t>Stack: Python, PostgreSQL, FastAPI, React and Recharts.</a:t>
            </a:r>
          </a:p>
          <a:p xmlns:a="http://schemas.openxmlformats.org/drawingml/2006/main">
            <a:pPr marL="22" indent="-12">
              <a:buChar char="•"/>
            </a:pPr>
            <a:r>
              <a:t>Flow: CSV → database → analytics → API → dashboard; AI receives verified context only.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29130bec1eea4a7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END-TO-END USE CASE – LIVE DEMO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205520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260"/>
                <a:gridCol w="2795968"/>
                <a:gridCol w="24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Use Case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Module(s) Involved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Status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Notes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1. Import data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Pydantic</a:t>
                      </a:r>
                      <a:endParaRPr/>
                    </a:p>
                    <a:p>
                      <a:r>
                        <a:t>PostgreSQL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47,128 rows</a:t>
                      </a:r>
                      <a:endParaRPr/>
                    </a:p>
                    <a:p>
                      <a:r>
                        <a:t>0 rejected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2. Run analytics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SQL services</a:t>
                      </a:r>
                      <a:endParaRPr/>
                    </a:p>
                    <a:p>
                      <a:r>
                        <a:t>Benchmarks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$411.18M spend</a:t>
                      </a:r>
                      <a:endParaRPr/>
                    </a:p>
                    <a:p>
                      <a:r>
                        <a:t>50 benchmarks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3. Review actions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FastAPI</a:t>
                      </a:r>
                      <a:endParaRPr/>
                    </a:p>
                    <a:p>
                      <a:r>
                        <a:t>React • AI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254 findings</a:t>
                      </a:r>
                      <a:endParaRPr/>
                    </a:p>
                    <a:p>
                      <a:r>
                        <a:t>$12.51M price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D98744-D6FD-47FD-ABDF-7C52B1EF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00000"/>
            <a:ext cx="10965218" cy="2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Demo outcome:</a:t>
            </a:r>
          </a:p>
          <a:p xmlns:a="http://schemas.openxmlformats.org/drawingml/2006/main">
            <a:pPr marL="18" indent="-10">
              <a:buChar char="•"/>
            </a:pPr>
            <a:r>
              <a:t>Dashboard and API use actual imported data.</a:t>
            </a:r>
          </a:p>
          <a:p xmlns:a="http://schemas.openxmlformats.org/drawingml/2006/main">
            <a:pPr marL="18" indent="-10">
              <a:buChar char="•"/>
            </a:pPr>
            <a:r>
              <a:t>Filters, pagination and opportunity details are live.</a:t>
            </a:r>
          </a:p>
          <a:p xmlns:a="http://schemas.openxmlformats.org/drawingml/2006/main">
            <a:pPr marL="18" indent="-10">
              <a:buChar char="•"/>
            </a:pPr>
            <a:r>
              <a:t>AI fallback remains safe when the provider is unavailable.</a:t>
            </a:r>
          </a:p>
          <a:p xmlns:a="http://schemas.openxmlformats.org/drawingml/2006/main">
            <a:pPr marL="18" indent="-10">
              <a:buChar char="•"/>
            </a:pPr>
            <a:r>
              <a:t>57 automated tests and the production frontend build passed.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120cedd343af4d75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Reviewed 16 papers published from 2021–2025.</a:t>
            </a:r>
          </a:p>
          <a:p xmlns:a="http://schemas.openxmlformats.org/drawingml/2006/main">
            <a:pPr marL="22" indent="-12">
              <a:buChar char="•"/>
            </a:pPr>
            <a:r>
              <a:t>Themes: procurement AI, spend classification, supplier selection, risk and LLMs.</a:t>
            </a:r>
          </a:p>
          <a:p xmlns:a="http://schemas.openxmlformats.org/drawingml/2006/main">
            <a:pPr marL="22" indent="-12">
              <a:buChar char="•"/>
            </a:pPr>
            <a:r>
              <a:t>Findings: explainability, data quality and practical adoption remain central.</a:t>
            </a:r>
          </a:p>
          <a:p xmlns:a="http://schemas.openxmlformats.org/drawingml/2006/main">
            <a:pPr marL="22" indent="-12">
              <a:buChar char="•"/>
            </a:pPr>
            <a:r>
              <a:t>Gap addressed: ProcureSight separates auditable calculations from validated narrative AI.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8f9b8e0d84c445fe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(1/8)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Toorajipour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in SCM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Systematic review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methods &amp; gaps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Pournader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applications in SCM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Bibliometric taxonomy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Research fragmented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Field foundations: broad AI/SCM reviews define the landscape but do not deliver an auditable procurement product.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8281bf0fa9ae4e08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(2/8)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Riahi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in supply chains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136-paper review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Process framework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Allal-Chérif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Intelligent purchasing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Five-platform cases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Maturity needed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Decision support must connect analytics to procurement processes while preserving human judgment.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1277d074c75a4320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(3/8)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Guida et al.</a:t>
                      </a:r>
                      <a:endParaRPr/>
                    </a:p>
                    <a:p>
                      <a:r>
                        <a:t>2023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in procurement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 + focus group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Benefits &amp; barriers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Spreitzenbarth</a:t>
                      </a:r>
                      <a:endParaRPr/>
                    </a:p>
                    <a:p>
                      <a:r>
                        <a:t>et al., 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AI/ML in purchasing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46 works; 20 interviews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Cost analysis gap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Procurement-focused evidence supports AI assistance, but practical cost analysis and adoption still need work.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4c4c0d68a373459a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(4/8)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Abdullahi et al.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Spend categorization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TF-IDF + ML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SVM: 93% / 92%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Li et al.</a:t>
                      </a:r>
                      <a:endParaRPr/>
                    </a:p>
                    <a:p>
                      <a:r>
                        <a:t>2025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Automating procurement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NLP/ML classifier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Savings candidates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Spend classification can be automated, but ProcureSight begins with already structured PO dimensions and focuses on auditable analysis.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a2ddd2e9abe544a1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(5/8)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Abdulla &amp; Bary.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Explainable selection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Hybrid ML + MCDM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Transparent ranking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Gaida et al.</a:t>
                      </a:r>
                      <a:endParaRPr/>
                    </a:p>
                    <a:p>
                      <a:r>
                        <a:t>2022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Supplier selection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Logistic regression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Matches requirements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Supplier recommendations are more usable when criteria and rankings remain transparent to procurement teams.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fbbcaed78364d90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(6/8)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Vassos et al.</a:t>
                      </a:r>
                      <a:endParaRPr/>
                    </a:p>
                    <a:p>
                      <a:r>
                        <a:t>2023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Procurement simulation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Events + bandits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Compares policies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Chauhan et al.</a:t>
                      </a:r>
                      <a:endParaRPr/>
                    </a:p>
                    <a:p>
                      <a:r>
                        <a:t>2022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Order assignment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MILP vs GA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Scalable allocation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Optimization and simulation extend beyond Phase 1; ProcureSight first establishes trusted analytics and explainable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459900dbf1254d9a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(7/8)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Bai &amp; Qiu, 2023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Fraud detection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NN; 50k samples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Flags audit events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Waseem et al.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Procurement Assistant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 usability study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Better bid evaluation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Procurement AI should surface review candidates rather than make unsupported autonomous decisions.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453a4556961c4f7e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(8/8)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Zhao &amp; Li, 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Tender RAG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GraphRAG; 1,406 docs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Better relevance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Srivastava et al.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LLMs in SCM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BERT; papers + posts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Risk/contract themes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ProcureSight follows the grounding principle: the LLM receives verified facts and never calculates prices or savings.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1200" y="3168074"/>
            <a:ext cx="10668000" cy="1216025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0F7333B-44AC-F7E9-D49D-FE92F45E0477}" type="slidenum">
              <a:t>17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20C7D-BD2C-F059-5056-8B99F4B276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2026-08-27T07:15:42.5090000Z</dcterms:created>
  <dcterms:modified xsi:type="dcterms:W3CDTF">2026-08-27T07:15:42.5090000Z</dcterms:modified>
</coreProperties>
</file>