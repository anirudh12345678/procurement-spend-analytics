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258d9fbb04c35" /><Relationship Type="http://schemas.openxmlformats.org/officeDocument/2006/relationships/extended-properties" Target="/docProps/app.xml" Id="R3a1e651f710b453c" /><Relationship Type="http://schemas.openxmlformats.org/officeDocument/2006/relationships/officeDocument" Target="/ppt/presentation.xml" Id="Rde24381aa5ba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9cbd9c547a4e43"/>
  </p:sldMasterIdLst>
  <p:notesMasterIdLst>
    <p:notesMasterId xmlns:r="http://schemas.openxmlformats.org/officeDocument/2006/relationships" r:id="Radabfda99d624b73"/>
  </p:notesMasterIdLst>
  <p:sldIdLst>
    <p:sldId xmlns:r="http://schemas.openxmlformats.org/officeDocument/2006/relationships" id="256" r:id="Refe64dd1cfcf4d5e"/>
    <p:sldId xmlns:r="http://schemas.openxmlformats.org/officeDocument/2006/relationships" id="257" r:id="Re090d0162cf84526"/>
    <p:sldId xmlns:r="http://schemas.openxmlformats.org/officeDocument/2006/relationships" id="258" r:id="R63198dadf0ee4be6"/>
    <p:sldId xmlns:r="http://schemas.openxmlformats.org/officeDocument/2006/relationships" id="259" r:id="R6078e6dd101c4ec7"/>
    <p:sldId xmlns:r="http://schemas.openxmlformats.org/officeDocument/2006/relationships" id="260" r:id="Re2eb504c16304d74"/>
    <p:sldId xmlns:r="http://schemas.openxmlformats.org/officeDocument/2006/relationships" id="261" r:id="R8c67fed117164f0d"/>
    <p:sldId xmlns:r="http://schemas.openxmlformats.org/officeDocument/2006/relationships" id="262" r:id="R6e27eca2cd5741e8"/>
    <p:sldId xmlns:r="http://schemas.openxmlformats.org/officeDocument/2006/relationships" id="263" r:id="R370a6d144f2b4335"/>
    <p:sldId xmlns:r="http://schemas.openxmlformats.org/officeDocument/2006/relationships" id="264" r:id="R22e41f4e75b54c80"/>
    <p:sldId xmlns:r="http://schemas.openxmlformats.org/officeDocument/2006/relationships" id="265" r:id="Re98ad90a9ea24aaf"/>
    <p:sldId xmlns:r="http://schemas.openxmlformats.org/officeDocument/2006/relationships" id="266" r:id="R99865af764034ead"/>
    <p:sldId xmlns:r="http://schemas.openxmlformats.org/officeDocument/2006/relationships" id="267" r:id="R643ec3c378df4860"/>
    <p:sldId xmlns:r="http://schemas.openxmlformats.org/officeDocument/2006/relationships" id="268" r:id="R076c83b1454c41d3"/>
    <p:sldId xmlns:r="http://schemas.openxmlformats.org/officeDocument/2006/relationships" id="269" r:id="R895b7a0b66b24a0d"/>
    <p:sldId xmlns:r="http://schemas.openxmlformats.org/officeDocument/2006/relationships" id="270" r:id="R775c1952bb8b4db0"/>
    <p:sldId xmlns:r="http://schemas.openxmlformats.org/officeDocument/2006/relationships" id="271" r:id="R3067bcf2806b4eb1"/>
    <p:sldId xmlns:r="http://schemas.openxmlformats.org/officeDocument/2006/relationships" id="272" r:id="Rd810a8f4edaf4e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7a2658aa841d9" /><Relationship Type="http://schemas.openxmlformats.org/officeDocument/2006/relationships/slideMaster" Target="/ppt/slideMasters/slideMaster1.xml" Id="R7b9cbd9c547a4e43" /><Relationship Type="http://schemas.openxmlformats.org/officeDocument/2006/relationships/notesMaster" Target="/ppt/notesMasters/notesMaster1.xml" Id="Radabfda99d624b73" /><Relationship Type="http://schemas.openxmlformats.org/officeDocument/2006/relationships/presProps" Target="/ppt/presProps.xml" Id="Rc9d03c6a1f134161" /><Relationship Type="http://schemas.openxmlformats.org/officeDocument/2006/relationships/viewProps" Target="/ppt/viewProps.xml" Id="R9d5e0bd7d6f24999" /><Relationship Type="http://schemas.openxmlformats.org/officeDocument/2006/relationships/tableStyles" Target="/ppt/tableStyles.xml" Id="Rb495543e2faf4275" /><Relationship Type="http://schemas.openxmlformats.org/officeDocument/2006/relationships/slide" Target="/ppt/slides/slide1.xml" Id="Refe64dd1cfcf4d5e" /><Relationship Type="http://schemas.openxmlformats.org/officeDocument/2006/relationships/slide" Target="/ppt/slides/slide2.xml" Id="Re090d0162cf84526" /><Relationship Type="http://schemas.openxmlformats.org/officeDocument/2006/relationships/slide" Target="/ppt/slides/slide3.xml" Id="R63198dadf0ee4be6" /><Relationship Type="http://schemas.openxmlformats.org/officeDocument/2006/relationships/slide" Target="/ppt/slides/slide4.xml" Id="R6078e6dd101c4ec7" /><Relationship Type="http://schemas.openxmlformats.org/officeDocument/2006/relationships/slide" Target="/ppt/slides/slide5.xml" Id="Re2eb504c16304d74" /><Relationship Type="http://schemas.openxmlformats.org/officeDocument/2006/relationships/slide" Target="/ppt/slides/slide6.xml" Id="R8c67fed117164f0d" /><Relationship Type="http://schemas.openxmlformats.org/officeDocument/2006/relationships/slide" Target="/ppt/slides/slide7.xml" Id="R6e27eca2cd5741e8" /><Relationship Type="http://schemas.openxmlformats.org/officeDocument/2006/relationships/slide" Target="/ppt/slides/slide8.xml" Id="R370a6d144f2b4335" /><Relationship Type="http://schemas.openxmlformats.org/officeDocument/2006/relationships/slide" Target="/ppt/slides/slide9.xml" Id="R22e41f4e75b54c80" /><Relationship Type="http://schemas.openxmlformats.org/officeDocument/2006/relationships/slide" Target="/ppt/slides/slide10.xml" Id="Re98ad90a9ea24aaf" /><Relationship Type="http://schemas.openxmlformats.org/officeDocument/2006/relationships/slide" Target="/ppt/slides/slide11.xml" Id="R99865af764034ead" /><Relationship Type="http://schemas.openxmlformats.org/officeDocument/2006/relationships/slide" Target="/ppt/slides/slide12.xml" Id="R643ec3c378df4860" /><Relationship Type="http://schemas.openxmlformats.org/officeDocument/2006/relationships/slide" Target="/ppt/slides/slide13.xml" Id="R076c83b1454c41d3" /><Relationship Type="http://schemas.openxmlformats.org/officeDocument/2006/relationships/slide" Target="/ppt/slides/slide14.xml" Id="R895b7a0b66b24a0d" /><Relationship Type="http://schemas.openxmlformats.org/officeDocument/2006/relationships/slide" Target="/ppt/slides/slide15.xml" Id="R775c1952bb8b4db0" /><Relationship Type="http://schemas.openxmlformats.org/officeDocument/2006/relationships/slide" Target="/ppt/slides/slide16.xml" Id="R3067bcf2806b4eb1" /><Relationship Type="http://schemas.openxmlformats.org/officeDocument/2006/relationships/slide" Target="/ppt/slides/slide17.xml" Id="Rd810a8f4edaf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fcdfa974d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77b679f9b4849" /><Relationship Type="http://schemas.openxmlformats.org/officeDocument/2006/relationships/notesMaster" Target="/ppt/notesMasters/notesMaster1.xml" Id="R599f202fe23843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17cf11dd44630" /><Relationship Type="http://schemas.openxmlformats.org/officeDocument/2006/relationships/notesMaster" Target="/ppt/notesMasters/notesMaster1.xml" Id="R337e0992cd0743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6c0095b1ff4fcd" /><Relationship Type="http://schemas.openxmlformats.org/officeDocument/2006/relationships/notesMaster" Target="/ppt/notesMasters/notesMaster1.xml" Id="Rc98fc9bb26c94f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1811b3a4234a6c" /><Relationship Type="http://schemas.openxmlformats.org/officeDocument/2006/relationships/notesMaster" Target="/ppt/notesMasters/notesMaster1.xml" Id="Re2a7b2fbb9a34d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5130e7bb04b67" /><Relationship Type="http://schemas.openxmlformats.org/officeDocument/2006/relationships/notesMaster" Target="/ppt/notesMasters/notesMaster1.xml" Id="R69f0ac0663ed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c467b5dc14311" /><Relationship Type="http://schemas.openxmlformats.org/officeDocument/2006/relationships/notesMaster" Target="/ppt/notesMasters/notesMaster1.xml" Id="R36eb70cd3278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0673f1c5d44556" /><Relationship Type="http://schemas.openxmlformats.org/officeDocument/2006/relationships/notesMaster" Target="/ppt/notesMasters/notesMaster1.xml" Id="R383df45774544a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11b1be0eb54b15" /><Relationship Type="http://schemas.openxmlformats.org/officeDocument/2006/relationships/notesMaster" Target="/ppt/notesMasters/notesMaster1.xml" Id="R16c65f509d814b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9cbcebc7d4e77" /><Relationship Type="http://schemas.openxmlformats.org/officeDocument/2006/relationships/notesMaster" Target="/ppt/notesMasters/notesMaster1.xml" Id="R62fc5b54f539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464ecf73024c5b" /><Relationship Type="http://schemas.openxmlformats.org/officeDocument/2006/relationships/notesMaster" Target="/ppt/notesMasters/notesMaster1.xml" Id="R9ac978e6724540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6e9e88960f44f4" /><Relationship Type="http://schemas.openxmlformats.org/officeDocument/2006/relationships/notesMaster" Target="/ppt/notesMasters/notesMaster1.xml" Id="R869c149451914a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a9a4ae86b34114" /><Relationship Type="http://schemas.openxmlformats.org/officeDocument/2006/relationships/notesMaster" Target="/ppt/notesMasters/notesMaster1.xml" Id="R93017431070d46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a45378816147b5" /><Relationship Type="http://schemas.openxmlformats.org/officeDocument/2006/relationships/notesMaster" Target="/ppt/notesMasters/notesMaster1.xml" Id="R5dc1f91afd7148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5e0541633944ea" /><Relationship Type="http://schemas.openxmlformats.org/officeDocument/2006/relationships/notesMaster" Target="/ppt/notesMasters/notesMaster1.xml" Id="R7785dcab116a4e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7ccae8aab04b58" /><Relationship Type="http://schemas.openxmlformats.org/officeDocument/2006/relationships/notesMaster" Target="/ppt/notesMasters/notesMaster1.xml" Id="R0855025b8dd443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1243136012416e" /><Relationship Type="http://schemas.openxmlformats.org/officeDocument/2006/relationships/notesMaster" Target="/ppt/notesMasters/notesMaster1.xml" Id="R885b0475e2be40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ffa9bc71424a59" /><Relationship Type="http://schemas.openxmlformats.org/officeDocument/2006/relationships/notesMaster" Target="/ppt/notesMasters/notesMaster1.xml" Id="R0c126fc33d62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ProcureSight First Review presentation.</a:t>
            </a:r>
          </a:p>
          <a:p xmlns:a="http://schemas.openxmlformats.org/drawingml/2006/main">
            <a:r>
              <a:t>Replace the supervisor and roll-number placeholders before submission.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papers were selected using the 2024-2026 IEEE journal-only eligibility rule.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https://doi.org/10.1109/ACCESS.2024.3467059</a:t>
            </a:r>
          </a:p>
          <a:p xmlns:a="http://schemas.openxmlformats.org/drawingml/2006/main">
            <a:r>
              <a:t>- https://doi.org/10.1109/ACCESS.2024.3525362</a:t>
            </a:r>
          </a:p>
          <a:p xmlns:a="http://schemas.openxmlformats.org/drawingml/2006/main">
            <a:r>
              <a:t>- https://doi.org/10.1109/ACCESS.2024.3416391</a:t>
            </a:r>
          </a:p>
          <a:p xmlns:a="http://schemas.openxmlformats.org/drawingml/2006/main">
            <a:r>
              <a:t>- https://doi.org/10.1109/ACCESS.2025.3596799</a:t>
            </a:r>
          </a:p>
          <a:p xmlns:a="http://schemas.openxmlformats.org/drawingml/2006/main"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IEEE Access journal article; conference papers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https://doi.org/10.1109/ACCESS.2024.3467059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IEEE Access journal article; conference papers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https://doi.org/10.1109/ACCESS.2024.3525362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IEEE Access journal article; conference papers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https://doi.org/10.1109/ACCESS.2024.3416391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IEEE Access journal article; conference papers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https://doi.org/10.1109/ACCESS.2025.3596799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IEEE Access journal article; conference papers excluded.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https://doi.org/10.1109/ACCESS.2024.3467059</a:t>
            </a:r>
          </a:p>
          <a:p xmlns:a="http://schemas.openxmlformats.org/drawingml/2006/main">
            <a:r>
              <a:t>- https://doi.org/10.1109/ACCESS.2024.3525362</a:t>
            </a:r>
          </a:p>
          <a:p xmlns:a="http://schemas.openxmlformats.org/drawingml/2006/main">
            <a:r>
              <a:t>- https://doi.org/10.1109/ACCESS.2024.3416391</a:t>
            </a:r>
          </a:p>
          <a:p xmlns:a="http://schemas.openxmlformats.org/drawingml/2006/main">
            <a:r>
              <a:t>- https://doi.org/10.1109/ACCESS.2025.3596799</a:t>
            </a:r>
          </a:p>
          <a:p xmlns:a="http://schemas.openxmlformats.org/drawingml/2006/main"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https://doi.org/10.1109/ACCESS.2024.3467059</a:t>
            </a:r>
          </a:p>
          <a:p xmlns:a="http://schemas.openxmlformats.org/drawingml/2006/main">
            <a:r>
              <a:t>- https://doi.org/10.1109/ACCESS.2024.3525362</a:t>
            </a:r>
          </a:p>
          <a:p xmlns:a="http://schemas.openxmlformats.org/drawingml/2006/main">
            <a:r>
              <a:t>- https://doi.org/10.1109/ACCESS.2024.3416391</a:t>
            </a:r>
          </a:p>
          <a:p xmlns:a="http://schemas.openxmlformats.org/drawingml/2006/main">
            <a:r>
              <a:t>- https://doi.org/10.1109/ACCESS.2025.3596799</a:t>
            </a:r>
          </a:p>
          <a:p xmlns:a="http://schemas.openxmlformats.org/drawingml/2006/main"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https://doi.org/10.1109/ACCESS.2024.3467059</a:t>
            </a:r>
          </a:p>
          <a:p xmlns:a="http://schemas.openxmlformats.org/drawingml/2006/main">
            <a:r>
              <a:t>- https://doi.org/10.1109/ACCESS.2024.3525362</a:t>
            </a:r>
          </a:p>
          <a:p xmlns:a="http://schemas.openxmlformats.org/drawingml/2006/main">
            <a:r>
              <a:t>- https://doi.org/10.1109/ACCESS.2024.3416391</a:t>
            </a:r>
          </a:p>
          <a:p xmlns:a="http://schemas.openxmlformats.org/drawingml/2006/main">
            <a:r>
              <a:t>- https://doi.org/10.1109/ACCESS.2025.3596799</a:t>
            </a:r>
          </a:p>
          <a:p xmlns:a="http://schemas.openxmlformats.org/drawingml/2006/main"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ed9f15c9a40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b951c577840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1e18fe0804a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0ff996abe42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e1ac1d84943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7021afe4f49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dadb35af644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d41e65c8e45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f67917e9349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9da62782549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ca35a2f644188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3950"/>
            <a:ext cx="10363200" cy="109538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512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D40E0F-0195-446A-84A2-FF7DB0DF93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990600"/>
            <a:ext cx="103632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12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6CF682-C4D2-482D-83AC-8969458A72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30400" y="3429000"/>
            <a:ext cx="93472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Font typeface="Wingdings"/>
              <a:buNone/>
              <a:defRPr sz="2800"/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9144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248400"/>
            <a:ext cx="38608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8F95DA7-9E0E-467D-A139-0471DC1777C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29D19-E5F1-4727-961C-169523DA3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23457F-0716-4763-BCA4-EB83C9DE18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DC2143B-610F-499C-A392-DFFBE135A7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59B53-47C9-48B6-8537-5F568A500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3D8C5D-DEC2-4CD6-84C7-8D5001D53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75C213C-AC18-4D5A-BA73-4550FF50B84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DCD9F1-B400-4934-9305-146187649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08D57A-F232-480B-B9C2-604E471529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556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9972DC-0F60-41EE-BAD9-0FA8B21516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12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A8ED4EA-E359-45F1-B86A-A40772B25C2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D07CA-4AE6-4A8F-A979-97F3E1800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1BCD9F-0458-477A-B8A6-87289502B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F6084C-2187-4446-89BA-C7497E84F2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ED7B1DC-549E-4C33-94B2-0D3F9E36FE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2CA10D-6511-4B12-9097-EB1CD51077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637AD66-1F60-49BE-A2E9-D91D10CB91F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C7FC7-E1B0-474D-999C-409269CC0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583B680-F650-469F-A231-392F163461F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D537315-F462-4C74-88B4-A900525A3F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9662ED-8470-4AE5-9596-2D8AE95BD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2FD3FE-13C3-4AF3-ABD0-9C3277E2F5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677807-57D6-4861-94B4-026E024E8B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79B2829-DA13-4801-8FBD-6D5729CB959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BE36CB-42C6-470E-8492-347244D63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7AD09E0-2E7E-49E9-B527-832FA83E2E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A9743F-78C8-43A2-9A7E-FD2CB09BB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5B0EEF8-84AE-4BCB-9844-5B22523396C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6D13E-39F7-4546-9082-8D1C5814F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A121AA-FC00-4572-AB73-EC0A56940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367E6EB-B6CA-430B-8761-75C737CF7AF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BE1BFE4-F959-4AFD-8A88-E30C3F1EC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5118" y="304800"/>
            <a:ext cx="2669116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140E66-E510-4AAD-8F1E-BCC10B7CC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304800"/>
            <a:ext cx="7806267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031276A-AAE7-4DAF-B5DC-CD9EE96B703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a746be6071b49d1" /><Relationship Type="http://schemas.openxmlformats.org/officeDocument/2006/relationships/theme" Target="/ppt/slideMasters/theme/theme2.xml" Id="R1dcf5ef58423491f" /><Relationship Type="http://schemas.openxmlformats.org/officeDocument/2006/relationships/slideLayout" Target="/ppt/slideLayouts/slideLayout1.xml" Id="R33cb4bab584e4a76" /><Relationship Type="http://schemas.openxmlformats.org/officeDocument/2006/relationships/slideLayout" Target="/ppt/slideLayouts/slideLayout2.xml" Id="Rae1e9575c1cf49f9" /><Relationship Type="http://schemas.openxmlformats.org/officeDocument/2006/relationships/slideLayout" Target="/ppt/slideLayouts/slideLayout3.xml" Id="Rc82c0adbcd9e4e5c" /><Relationship Type="http://schemas.openxmlformats.org/officeDocument/2006/relationships/slideLayout" Target="/ppt/slideLayouts/slideLayout4.xml" Id="Rf9cd87da490842c6" /><Relationship Type="http://schemas.openxmlformats.org/officeDocument/2006/relationships/slideLayout" Target="/ppt/slideLayouts/slideLayout5.xml" Id="Rd470abfb4ae94bcb" /><Relationship Type="http://schemas.openxmlformats.org/officeDocument/2006/relationships/slideLayout" Target="/ppt/slideLayouts/slideLayout6.xml" Id="Rb8d540a2978b4048" /><Relationship Type="http://schemas.openxmlformats.org/officeDocument/2006/relationships/slideLayout" Target="/ppt/slideLayouts/slideLayout7.xml" Id="R820100aca01543f3" /><Relationship Type="http://schemas.openxmlformats.org/officeDocument/2006/relationships/slideLayout" Target="/ppt/slideLayouts/slideLayout8.xml" Id="R269e38e21ac44d8b" /><Relationship Type="http://schemas.openxmlformats.org/officeDocument/2006/relationships/slideLayout" Target="/ppt/slideLayouts/slideLayout9.xml" Id="Rd7a7929758c84ce3" /><Relationship Type="http://schemas.openxmlformats.org/officeDocument/2006/relationships/slideLayout" Target="/ppt/slideLayouts/slideLayout10.xml" Id="R38968723dca445a5" /><Relationship Type="http://schemas.openxmlformats.org/officeDocument/2006/relationships/slideLayout" Target="/ppt/slideLayouts/slideLayout11.xml" Id="Rcce62e0ee07f4c0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a746be6071b49d1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6233" y="304801"/>
            <a:ext cx="10668000" cy="121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1752600"/>
            <a:ext cx="106680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66864"/>
            <a:ext cx="10610851" cy="109537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1029" name="Line 5">
            <a:extLst xmlns:a="http://schemas.openxmlformats.org/drawingml/2006/main"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2800" y="6172200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410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128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10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10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  <a:fld id="{756AFA5A-A15D-402B-9810-66A481E981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b4bab584e4a76"/>
    <p:sldLayoutId xmlns:r="http://schemas.openxmlformats.org/officeDocument/2006/relationships" id="2147483650" r:id="Rae1e9575c1cf49f9"/>
    <p:sldLayoutId xmlns:r="http://schemas.openxmlformats.org/officeDocument/2006/relationships" id="2147483651" r:id="Rc82c0adbcd9e4e5c"/>
    <p:sldLayoutId xmlns:r="http://schemas.openxmlformats.org/officeDocument/2006/relationships" id="2147483652" r:id="Rf9cd87da490842c6"/>
    <p:sldLayoutId xmlns:r="http://schemas.openxmlformats.org/officeDocument/2006/relationships" id="2147483653" r:id="Rd470abfb4ae94bcb"/>
    <p:sldLayoutId xmlns:r="http://schemas.openxmlformats.org/officeDocument/2006/relationships" id="2147483654" r:id="Rb8d540a2978b4048"/>
    <p:sldLayoutId xmlns:r="http://schemas.openxmlformats.org/officeDocument/2006/relationships" id="2147483655" r:id="R820100aca01543f3"/>
    <p:sldLayoutId xmlns:r="http://schemas.openxmlformats.org/officeDocument/2006/relationships" id="2147483656" r:id="R269e38e21ac44d8b"/>
    <p:sldLayoutId xmlns:r="http://schemas.openxmlformats.org/officeDocument/2006/relationships" id="2147483657" r:id="Rd7a7929758c84ce3"/>
    <p:sldLayoutId xmlns:r="http://schemas.openxmlformats.org/officeDocument/2006/relationships" id="2147483658" r:id="R38968723dca445a5"/>
    <p:sldLayoutId xmlns:r="http://schemas.openxmlformats.org/officeDocument/2006/relationships" id="2147483659" r:id="Rcce62e0ee07f4c0d"/>
  </p:sldLayoutIdLst>
  <p:hf hdr="0"/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3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08050" indent="-436563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04925" indent="-395288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23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93863" indent="-38735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939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511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3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5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27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e23996f29460b" /><Relationship Type="http://schemas.openxmlformats.org/officeDocument/2006/relationships/image" Target="/ppt/media/image.png" Id="Re489c89c97304e2d" /><Relationship Type="http://schemas.openxmlformats.org/officeDocument/2006/relationships/image" Target="/ppt/media/image2.png" Id="R890359fd0e8f4ce7" /><Relationship Type="http://schemas.openxmlformats.org/officeDocument/2006/relationships/image" Target="/ppt/media/image3.png" Id="R68746a43003f4ad6" /><Relationship Type="http://schemas.openxmlformats.org/officeDocument/2006/relationships/notesSlide" Target="/ppt/notesSlides/notesSlide1.xml" Id="R77c28d422711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03e69609e842ef" /><Relationship Type="http://schemas.openxmlformats.org/officeDocument/2006/relationships/image" Target="/ppt/media/image.png" Id="R52c0ac4b8bc84aee" /><Relationship Type="http://schemas.openxmlformats.org/officeDocument/2006/relationships/notesSlide" Target="/ppt/notesSlides/notesSlide2.xml" Id="R7c0604ebe6df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e45f2be48464d" /><Relationship Type="http://schemas.openxmlformats.org/officeDocument/2006/relationships/notesSlide" Target="/ppt/notesSlides/notesSlide3.xml" Id="Rdb62897aa24f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55f18a85e4fc5" /><Relationship Type="http://schemas.openxmlformats.org/officeDocument/2006/relationships/notesSlide" Target="/ppt/notesSlides/notesSlide4.xml" Id="R3cd896979d9c40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0c684119ad46d1" /><Relationship Type="http://schemas.openxmlformats.org/officeDocument/2006/relationships/image" Target="/ppt/media/image.png" Id="Rd666795170204c51" /><Relationship Type="http://schemas.openxmlformats.org/officeDocument/2006/relationships/notesSlide" Target="/ppt/notesSlides/notesSlide5.xml" Id="Rcf3b49aa5cdc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3e432285fe434f" /><Relationship Type="http://schemas.openxmlformats.org/officeDocument/2006/relationships/image" Target="/ppt/media/image.png" Id="R6064ab80fac242b6" /><Relationship Type="http://schemas.openxmlformats.org/officeDocument/2006/relationships/notesSlide" Target="/ppt/notesSlides/notesSlide6.xml" Id="Rb4b897e2d25a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d7a701aa544bd" /><Relationship Type="http://schemas.openxmlformats.org/officeDocument/2006/relationships/image" Target="/ppt/media/image.png" Id="Rb6954f779c504c04" /><Relationship Type="http://schemas.openxmlformats.org/officeDocument/2006/relationships/notesSlide" Target="/ppt/notesSlides/notesSlide7.xml" Id="R049873db7a4245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a28448422451d" /><Relationship Type="http://schemas.openxmlformats.org/officeDocument/2006/relationships/image" Target="/ppt/media/image.png" Id="Rfa062e07cf934a49" /><Relationship Type="http://schemas.openxmlformats.org/officeDocument/2006/relationships/notesSlide" Target="/ppt/notesSlides/notesSlide8.xml" Id="Rcbd6999fc036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9a2af16434acf" /><Relationship Type="http://schemas.openxmlformats.org/officeDocument/2006/relationships/image" Target="/ppt/media/image.png" Id="Re61f5d95548645ec" /><Relationship Type="http://schemas.openxmlformats.org/officeDocument/2006/relationships/notesSlide" Target="/ppt/notesSlides/notesSlide9.xml" Id="R6c9ce931f22e46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b981fb8d44ed8" /><Relationship Type="http://schemas.openxmlformats.org/officeDocument/2006/relationships/image" Target="/ppt/media/image.png" Id="Rcd94ff1bcf624d68" /><Relationship Type="http://schemas.openxmlformats.org/officeDocument/2006/relationships/notesSlide" Target="/ppt/notesSlides/notesSlide10.xml" Id="Radf92e2dfb454d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060ec19d341d9" /><Relationship Type="http://schemas.openxmlformats.org/officeDocument/2006/relationships/image" Target="/ppt/media/image.png" Id="Rba75e1c0375b46f9" /><Relationship Type="http://schemas.openxmlformats.org/officeDocument/2006/relationships/notesSlide" Target="/ppt/notesSlides/notesSlide11.xml" Id="R928288954a3344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4c8f1ac544d9a" /><Relationship Type="http://schemas.openxmlformats.org/officeDocument/2006/relationships/image" Target="/ppt/media/image.png" Id="R119f87e6a2ad4503" /><Relationship Type="http://schemas.openxmlformats.org/officeDocument/2006/relationships/notesSlide" Target="/ppt/notesSlides/notesSlide12.xml" Id="R91755bb6c46142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e54c8bddfc4fbf" /><Relationship Type="http://schemas.openxmlformats.org/officeDocument/2006/relationships/image" Target="/ppt/media/image.png" Id="Rc1d2cd5d3ec2424f" /><Relationship Type="http://schemas.openxmlformats.org/officeDocument/2006/relationships/notesSlide" Target="/ppt/notesSlides/notesSlide13.xml" Id="R7f7faafcdde843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2be7e9a88d43bd" /><Relationship Type="http://schemas.openxmlformats.org/officeDocument/2006/relationships/image" Target="/ppt/media/image.png" Id="R02a95c0e0e7a49ae" /><Relationship Type="http://schemas.openxmlformats.org/officeDocument/2006/relationships/notesSlide" Target="/ppt/notesSlides/notesSlide14.xml" Id="R4c2b06db3e1443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15f864bb64cbb" /><Relationship Type="http://schemas.openxmlformats.org/officeDocument/2006/relationships/image" Target="/ppt/media/image.png" Id="R3170f17645544a48" /><Relationship Type="http://schemas.openxmlformats.org/officeDocument/2006/relationships/notesSlide" Target="/ppt/notesSlides/notesSlide15.xml" Id="R753940fe2ae04d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b8d5f1bc564553" /><Relationship Type="http://schemas.openxmlformats.org/officeDocument/2006/relationships/image" Target="/ppt/media/image.png" Id="Rbc587189171d4d4d" /><Relationship Type="http://schemas.openxmlformats.org/officeDocument/2006/relationships/notesSlide" Target="/ppt/notesSlides/notesSlide16.xml" Id="Ra20c27e1641446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24458982f4269" /><Relationship Type="http://schemas.openxmlformats.org/officeDocument/2006/relationships/notesSlide" Target="/ppt/notesSlides/notesSlide17.xml" Id="Rcda9879fe5ad423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e489c89c97304e2d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359fd0e8f4c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1491" y="64077"/>
            <a:ext cx="1000125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12" y="2530618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003" lnSpcReduction="2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ProcureSight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AI-Based Procurement Spend Analytics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SDG 8 • SDG 9 • SDG 12</a:t>
            </a:r>
          </a:p>
        </p:txBody>
      </p:sp>
      <p:sp>
        <p:nvSpPr>
          <p:cNvPr id="10" name="TextBox 1">
            <a:extLst xmlns:a="http://schemas.openxmlformats.org/drawingml/2006/main"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9" y="5183902"/>
            <a:ext cx="34290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Supervisor: &lt;NAME, DESIGNATION&gt;</a:t>
            </a:r>
          </a:p>
        </p:txBody>
      </p:sp>
      <p:sp>
        <p:nvSpPr>
          <p:cNvPr id="11" name="TextBox 1">
            <a:extLst xmlns:a="http://schemas.openxmlformats.org/drawingml/2006/main"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112" y="5183902"/>
            <a:ext cx="35052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Student: Anirudh | Roll No.: &lt;ROLL NO.&gt;</a:t>
            </a:r>
          </a:p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91" y="1213137"/>
            <a:ext cx="10515600" cy="722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46a43003f4a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4077"/>
            <a:ext cx="3756758" cy="1213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52c0ac4b8bc84ae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Procurement decisions depend on a clear view of spend, suppliers, contracts, quality and delivery.</a:t>
            </a:r>
          </a:p>
          <a:p xmlns:a="http://schemas.openxmlformats.org/drawingml/2006/main">
            <a:pPr marL="22" indent="-12">
              <a:buChar char="•"/>
            </a:pPr>
            <a:r>
              <a:t>Fragmented exports make analysis slow, inconsistent and difficult to audit.</a:t>
            </a:r>
          </a:p>
          <a:p xmlns:a="http://schemas.openxmlformats.org/drawingml/2006/main">
            <a:pPr marL="22" indent="-12">
              <a:buChar char="•"/>
            </a:pPr>
            <a:r>
              <a:t>ProcureSight unifies procurement data, calculates explainable cost opportunities and uses AI only to communicate verified findings.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D7DC03-923D-4213-930D-3AF1F5ADA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PROJECT OVERVIEW &amp; OBJECTIVES/SCOPE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99CBC8-2C97-4FF2-93D4-4BBC39ECF6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C35582-96D8-4CC6-BCC2-7D4D0C1877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E3463-C83A-463B-8998-212AA352DC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t>3</a:t>
            </a:fld>
            <a:endParaRPr/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E2B662-9786-4797-88B4-C9BC1152E5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60367" y="1600000"/>
            <a:ext cx="10271266" cy="2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Goal: deliver a procurement analytics and cost-opportunity platform.</a:t>
            </a:r>
          </a:p>
          <a:p xmlns:a="http://schemas.openxmlformats.org/drawingml/2006/main">
            <a:pPr marL="22" indent="-12">
              <a:buChar char="•"/>
            </a:pPr>
            <a:r>
              <a:t>Objectives: validated ingestion, spend and supplier KPIs, price benchmarks and explainable opportunities.</a:t>
            </a:r>
          </a:p>
          <a:p xmlns:a="http://schemas.openxmlformats.org/drawingml/2006/main">
            <a:pPr marL="22" indent="-12">
              <a:buChar char="•"/>
            </a:pPr>
            <a:r>
              <a:t>Scope: PostgreSQL, FastAPI, React and guarded AI recommendations.</a:t>
            </a:r>
          </a:p>
          <a:p xmlns:a="http://schemas.openxmlformats.org/drawingml/2006/main">
            <a:pPr marL="22" indent="-12">
              <a:buChar char="•"/>
            </a:pPr>
            <a:r>
              <a:t>Excludes: forecasting, anomaly detection, external prices and autonomous purchasing.</a:t>
            </a:r>
          </a:p>
        </p:txBody>
      </p:sp>
    </p:spTree>
    <p:extLst>
      <p:ext uri="{BB962C8B-B14F-4D97-AF65-F5344CB8AC3E}">
        <p14:creationId xmlns:p14="http://schemas.microsoft.com/office/powerpoint/2010/main" val="1744866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ERP exports and spreadsheets provide fragmented or retrospective procurement views.</a:t>
            </a:r>
          </a:p>
          <a:p xmlns:a="http://schemas.openxmlformats.org/drawingml/2006/main">
            <a:pPr marL="22" indent="-12">
              <a:buChar char="•"/>
            </a:pPr>
            <a:r>
              <a:t>Commercial suites can be costly and opaque for academic evaluation.</a:t>
            </a:r>
          </a:p>
          <a:p xmlns:a="http://schemas.openxmlformats.org/drawingml/2006/main">
            <a:pPr marL="22" indent="-12">
              <a:buChar char="•"/>
            </a:pPr>
            <a:r>
              <a:t>Manual analysis struggles to connect price, contract, quality and delivery signals.</a:t>
            </a:r>
          </a:p>
          <a:p xmlns:a="http://schemas.openxmlformats.org/drawingml/2006/main">
            <a:pPr marL="22" indent="-12">
              <a:buChar char="•"/>
            </a:pPr>
            <a:r>
              <a:t>Static dashboards show totals but rarely explain how cost opportunities were derived.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00325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d666795170204c51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STATEMENT 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Procurement teams lack one auditable view of price variance, contract leakage, concentration and operational risk.</a:t>
            </a:r>
          </a:p>
          <a:p xmlns:a="http://schemas.openxmlformats.org/drawingml/2006/main">
            <a:pPr marL="22" indent="-12">
              <a:buChar char="•"/>
            </a:pPr>
            <a:r>
              <a:t>Spreadsheet reviews are slow and inconsistent; conventional dashboards show totals without explaining or prioritizing opportunities.</a:t>
            </a:r>
          </a:p>
          <a:p xmlns:a="http://schemas.openxmlformats.org/drawingml/2006/main">
            <a:pPr marL="22" indent="-12">
              <a:buChar char="•"/>
            </a:pPr>
            <a:r>
              <a:t>AI advice is unsafe unless it is grounded in verified calculations and human review.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6064ab80fac242b6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METHODOLOGY &amp; SYSTEM ARCHITECTURE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7" name="method-label">
            <a:extLst xmlns:a="http://schemas.openxmlformats.org/drawingml/2006/main">
              <a:ext uri="{FF2B5EF4-FFF2-40B4-BE49-F238E27FC236}">
                <a16:creationId xmlns:a16="http://schemas.microsoft.com/office/drawing/2014/main" id="{0311DC54-C302-4240-B06E-1F9A03A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METHODOLOGY</a:t>
            </a:r>
          </a:p>
        </p:txBody>
      </p:sp>
      <p:sp>
        <p:nvSpPr>
          <p:cNvPr id="8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16DF986A-C0FD-49A9-8D21-2283ABB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716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A traceable pipeline from raw records to procurement action</a:t>
            </a:r>
          </a:p>
        </p:txBody>
      </p:sp>
      <p:sp>
        <p:nvSpPr>
          <p:cNvPr id="9" name="method-edge-1">
            <a:extLst xmlns:a="http://schemas.openxmlformats.org/drawingml/2006/main">
              <a:ext uri="{FF2B5EF4-FFF2-40B4-BE49-F238E27FC236}">
                <a16:creationId xmlns:a16="http://schemas.microsoft.com/office/drawing/2014/main" id="{AF270023-D9F9-4CBF-B454-9BBB75B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edge-2">
            <a:extLst xmlns:a="http://schemas.openxmlformats.org/drawingml/2006/main">
              <a:ext uri="{FF2B5EF4-FFF2-40B4-BE49-F238E27FC236}">
                <a16:creationId xmlns:a16="http://schemas.microsoft.com/office/drawing/2014/main" id="{F1C1BE2D-92C8-4A9E-801D-29FE888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edge-3">
            <a:extLst xmlns:a="http://schemas.openxmlformats.org/drawingml/2006/main">
              <a:ext uri="{FF2B5EF4-FFF2-40B4-BE49-F238E27FC236}">
                <a16:creationId xmlns:a16="http://schemas.microsoft.com/office/drawing/2014/main" id="{5A0D2E6E-4257-4D7B-BD1A-9B696227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edge-4">
            <a:extLst xmlns:a="http://schemas.openxmlformats.org/drawingml/2006/main">
              <a:ext uri="{FF2B5EF4-FFF2-40B4-BE49-F238E27FC236}">
                <a16:creationId xmlns:a16="http://schemas.microsoft.com/office/drawing/2014/main" id="{6574D5E0-E87A-44BB-A1FE-27A8E85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edge-5">
            <a:extLst xmlns:a="http://schemas.openxmlformats.org/drawingml/2006/main">
              <a:ext uri="{FF2B5EF4-FFF2-40B4-BE49-F238E27FC236}">
                <a16:creationId xmlns:a16="http://schemas.microsoft.com/office/drawing/2014/main" id="{78848DF2-E6B4-4FB3-9077-82DD244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step-01">
            <a:extLst xmlns:a="http://schemas.openxmlformats.org/drawingml/2006/main">
              <a:ext uri="{FF2B5EF4-FFF2-40B4-BE49-F238E27FC236}">
                <a16:creationId xmlns:a16="http://schemas.microsoft.com/office/drawing/2014/main" id="{39BFF3D1-B66E-4C8D-A8CF-BB445A14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5" name="method-title-01">
            <a:extLst xmlns:a="http://schemas.openxmlformats.org/drawingml/2006/main">
              <a:ext uri="{FF2B5EF4-FFF2-40B4-BE49-F238E27FC236}">
                <a16:creationId xmlns:a16="http://schemas.microsoft.com/office/drawing/2014/main" id="{3CC648FA-7265-48BC-8603-1128FB7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VALIDATE</a:t>
            </a:r>
          </a:p>
        </p:txBody>
      </p:sp>
      <p:sp>
        <p:nvSpPr>
          <p:cNvPr id="16" name="method-detail-01">
            <a:extLst xmlns:a="http://schemas.openxmlformats.org/drawingml/2006/main">
              <a:ext uri="{FF2B5EF4-FFF2-40B4-BE49-F238E27FC236}">
                <a16:creationId xmlns:a16="http://schemas.microsoft.com/office/drawing/2014/main" id="{25DD163C-0B14-443D-8E72-2FAD22B6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Schema + totals</a:t>
            </a:r>
          </a:p>
        </p:txBody>
      </p:sp>
      <p:sp>
        <p:nvSpPr>
          <p:cNvPr id="17" name="method-step-02">
            <a:extLst xmlns:a="http://schemas.openxmlformats.org/drawingml/2006/main">
              <a:ext uri="{FF2B5EF4-FFF2-40B4-BE49-F238E27FC236}">
                <a16:creationId xmlns:a16="http://schemas.microsoft.com/office/drawing/2014/main" id="{9922C3A8-E857-48A3-A3E2-93CFE851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8" name="method-title-02">
            <a:extLst xmlns:a="http://schemas.openxmlformats.org/drawingml/2006/main">
              <a:ext uri="{FF2B5EF4-FFF2-40B4-BE49-F238E27FC236}">
                <a16:creationId xmlns:a16="http://schemas.microsoft.com/office/drawing/2014/main" id="{9D0232AD-57BF-4C0A-85CF-1395523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NORMALIZE</a:t>
            </a:r>
          </a:p>
        </p:txBody>
      </p:sp>
      <p:sp>
        <p:nvSpPr>
          <p:cNvPr id="19" name="method-detail-02">
            <a:extLst xmlns:a="http://schemas.openxmlformats.org/drawingml/2006/main">
              <a:ext uri="{FF2B5EF4-FFF2-40B4-BE49-F238E27FC236}">
                <a16:creationId xmlns:a16="http://schemas.microsoft.com/office/drawing/2014/main" id="{6A89F120-C8C2-4487-8094-D47FEBE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Clean dimensions</a:t>
            </a:r>
          </a:p>
        </p:txBody>
      </p:sp>
      <p:sp>
        <p:nvSpPr>
          <p:cNvPr id="20" name="method-step-03">
            <a:extLst xmlns:a="http://schemas.openxmlformats.org/drawingml/2006/main">
              <a:ext uri="{FF2B5EF4-FFF2-40B4-BE49-F238E27FC236}">
                <a16:creationId xmlns:a16="http://schemas.microsoft.com/office/drawing/2014/main" id="{78C33BB8-BD0E-46CC-A9AB-87CBEC2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21" name="method-title-03">
            <a:extLst xmlns:a="http://schemas.openxmlformats.org/drawingml/2006/main">
              <a:ext uri="{FF2B5EF4-FFF2-40B4-BE49-F238E27FC236}">
                <a16:creationId xmlns:a16="http://schemas.microsoft.com/office/drawing/2014/main" id="{7D9AE2A3-910F-4ED0-A143-83BBE5C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AGGREGATE</a:t>
            </a:r>
          </a:p>
        </p:txBody>
      </p:sp>
      <p:sp>
        <p:nvSpPr>
          <p:cNvPr id="22" name="method-detail-03">
            <a:extLst xmlns:a="http://schemas.openxmlformats.org/drawingml/2006/main">
              <a:ext uri="{FF2B5EF4-FFF2-40B4-BE49-F238E27FC236}">
                <a16:creationId xmlns:a16="http://schemas.microsoft.com/office/drawing/2014/main" id="{6886CA70-7168-45BE-9EB7-9E8BC238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+ performance</a:t>
            </a:r>
          </a:p>
        </p:txBody>
      </p:sp>
      <p:sp>
        <p:nvSpPr>
          <p:cNvPr id="23" name="method-step-04">
            <a:extLst xmlns:a="http://schemas.openxmlformats.org/drawingml/2006/main">
              <a:ext uri="{FF2B5EF4-FFF2-40B4-BE49-F238E27FC236}">
                <a16:creationId xmlns:a16="http://schemas.microsoft.com/office/drawing/2014/main" id="{AF820B93-C039-4765-8BCD-702D4A5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4" name="method-title-04">
            <a:extLst xmlns:a="http://schemas.openxmlformats.org/drawingml/2006/main">
              <a:ext uri="{FF2B5EF4-FFF2-40B4-BE49-F238E27FC236}">
                <a16:creationId xmlns:a16="http://schemas.microsoft.com/office/drawing/2014/main" id="{1DC98961-E917-4A0C-8969-3C667DD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BENCHMARK</a:t>
            </a:r>
          </a:p>
        </p:txBody>
      </p:sp>
      <p:sp>
        <p:nvSpPr>
          <p:cNvPr id="25" name="method-detail-04">
            <a:extLst xmlns:a="http://schemas.openxmlformats.org/drawingml/2006/main">
              <a:ext uri="{FF2B5EF4-FFF2-40B4-BE49-F238E27FC236}">
                <a16:creationId xmlns:a16="http://schemas.microsoft.com/office/drawing/2014/main" id="{A4BC2E64-0B72-4DD9-8A08-5923995A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Comparable prices</a:t>
            </a:r>
          </a:p>
        </p:txBody>
      </p:sp>
      <p:sp>
        <p:nvSpPr>
          <p:cNvPr id="26" name="method-step-05">
            <a:extLst xmlns:a="http://schemas.openxmlformats.org/drawingml/2006/main">
              <a:ext uri="{FF2B5EF4-FFF2-40B4-BE49-F238E27FC236}">
                <a16:creationId xmlns:a16="http://schemas.microsoft.com/office/drawing/2014/main" id="{B14F1178-32DC-402B-84F9-174A1A2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7" name="method-title-05">
            <a:extLst xmlns:a="http://schemas.openxmlformats.org/drawingml/2006/main">
              <a:ext uri="{FF2B5EF4-FFF2-40B4-BE49-F238E27FC236}">
                <a16:creationId xmlns:a16="http://schemas.microsoft.com/office/drawing/2014/main" id="{947A1A43-0B5F-4B37-ACA5-01ED3447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PRIORITIZE</a:t>
            </a:r>
          </a:p>
        </p:txBody>
      </p:sp>
      <p:sp>
        <p:nvSpPr>
          <p:cNvPr id="28" name="method-detail-05">
            <a:extLst xmlns:a="http://schemas.openxmlformats.org/drawingml/2006/main">
              <a:ext uri="{FF2B5EF4-FFF2-40B4-BE49-F238E27FC236}">
                <a16:creationId xmlns:a16="http://schemas.microsoft.com/office/drawing/2014/main" id="{08C963E1-7080-4781-9D43-3016525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Rank opportunities</a:t>
            </a:r>
          </a:p>
        </p:txBody>
      </p:sp>
      <p:sp>
        <p:nvSpPr>
          <p:cNvPr id="29" name="method-step-06">
            <a:extLst xmlns:a="http://schemas.openxmlformats.org/drawingml/2006/main">
              <a:ext uri="{FF2B5EF4-FFF2-40B4-BE49-F238E27FC236}">
                <a16:creationId xmlns:a16="http://schemas.microsoft.com/office/drawing/2014/main" id="{0CE61B5D-B453-451F-9302-4CEAEFA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30" name="method-title-06">
            <a:extLst xmlns:a="http://schemas.openxmlformats.org/drawingml/2006/main">
              <a:ext uri="{FF2B5EF4-FFF2-40B4-BE49-F238E27FC236}">
                <a16:creationId xmlns:a16="http://schemas.microsoft.com/office/drawing/2014/main" id="{0BC45998-0431-4316-A82B-47C5482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EXPLAIN</a:t>
            </a:r>
          </a:p>
        </p:txBody>
      </p:sp>
      <p:sp>
        <p:nvSpPr>
          <p:cNvPr id="31" name="method-detail-06">
            <a:extLst xmlns:a="http://schemas.openxmlformats.org/drawingml/2006/main">
              <a:ext uri="{FF2B5EF4-FFF2-40B4-BE49-F238E27FC236}">
                <a16:creationId xmlns:a16="http://schemas.microsoft.com/office/drawing/2014/main" id="{9AD50526-F9D5-40C3-B4F1-2800EAB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narrative</a:t>
            </a:r>
          </a:p>
        </p:txBody>
      </p:sp>
      <p:sp>
        <p:nvSpPr>
          <p:cNvPr id="32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5D307EC4-0F7C-4791-A3B3-34290B2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B2C1"/>
            </a:solidFill>
            <a:prstDash val="solid"/>
          </a:ln>
        </p:spPr>
      </p:sp>
      <p:sp>
        <p:nvSpPr>
          <p:cNvPr id="33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C4E8C6F9-5987-49A7-92BF-56791BC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SYSTEM ARCHITECTURE</a:t>
            </a:r>
          </a:p>
        </p:txBody>
      </p:sp>
      <p:sp>
        <p:nvSpPr>
          <p:cNvPr id="34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014BAE22-79FC-4A35-85B6-09803324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data flows forward; decisions remain auditable</a:t>
            </a:r>
          </a:p>
        </p:txBody>
      </p:sp>
      <p:sp>
        <p:nvSpPr>
          <p:cNvPr id="35" name="architecture-edge-1">
            <a:extLst xmlns:a="http://schemas.openxmlformats.org/drawingml/2006/main">
              <a:ext uri="{FF2B5EF4-FFF2-40B4-BE49-F238E27FC236}">
                <a16:creationId xmlns:a16="http://schemas.microsoft.com/office/drawing/2014/main" id="{17DB89E2-301A-4558-9D0C-8264636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chitecture-edge-2">
            <a:extLst xmlns:a="http://schemas.openxmlformats.org/drawingml/2006/main">
              <a:ext uri="{FF2B5EF4-FFF2-40B4-BE49-F238E27FC236}">
                <a16:creationId xmlns:a16="http://schemas.microsoft.com/office/drawing/2014/main" id="{174A1280-7362-47EE-ACE6-245087F7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rchitecture-edge-3">
            <a:extLst xmlns:a="http://schemas.openxmlformats.org/drawingml/2006/main">
              <a:ext uri="{FF2B5EF4-FFF2-40B4-BE49-F238E27FC236}">
                <a16:creationId xmlns:a16="http://schemas.microsoft.com/office/drawing/2014/main" id="{0F53DDAB-D782-47F6-8D54-5B0DD62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itecture-edge-4">
            <a:extLst xmlns:a="http://schemas.openxmlformats.org/drawingml/2006/main">
              <a:ext uri="{FF2B5EF4-FFF2-40B4-BE49-F238E27FC236}">
                <a16:creationId xmlns:a16="http://schemas.microsoft.com/office/drawing/2014/main" id="{1B805F52-A883-4039-8EAD-4E7D685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rchitecture-card-1">
            <a:extLst xmlns:a="http://schemas.openxmlformats.org/drawingml/2006/main">
              <a:ext uri="{FF2B5EF4-FFF2-40B4-BE49-F238E27FC236}">
                <a16:creationId xmlns:a16="http://schemas.microsoft.com/office/drawing/2014/main" id="{68B2F637-E1EB-4A71-B8C0-A8C1FA0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architecture-accent-1">
            <a:extLst xmlns:a="http://schemas.openxmlformats.org/drawingml/2006/main">
              <a:ext uri="{FF2B5EF4-FFF2-40B4-BE49-F238E27FC236}">
                <a16:creationId xmlns:a16="http://schemas.microsoft.com/office/drawing/2014/main" id="{527799C1-344C-426F-8812-5ECD5F9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684734C2-C95A-4CF7-8E6B-499F1A9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2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F5F36A32-F6B3-4674-A630-A9013E0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SOURCE DATA</a:t>
            </a:r>
          </a:p>
        </p:txBody>
      </p:sp>
      <p:sp>
        <p:nvSpPr>
          <p:cNvPr id="43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A469B4FA-F211-4494-B923-2839D380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CSV / ERP exports</a:t>
            </a:r>
          </a:p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Purchase-order records</a:t>
            </a:r>
          </a:p>
        </p:txBody>
      </p:sp>
      <p:sp>
        <p:nvSpPr>
          <p:cNvPr id="44" name="architecture-card-2">
            <a:extLst xmlns:a="http://schemas.openxmlformats.org/drawingml/2006/main">
              <a:ext uri="{FF2B5EF4-FFF2-40B4-BE49-F238E27FC236}">
                <a16:creationId xmlns:a16="http://schemas.microsoft.com/office/drawing/2014/main" id="{F7ED4C36-ED20-4F07-8655-10DE56F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architecture-accent-2">
            <a:extLst xmlns:a="http://schemas.openxmlformats.org/drawingml/2006/main">
              <a:ext uri="{FF2B5EF4-FFF2-40B4-BE49-F238E27FC236}">
                <a16:creationId xmlns:a16="http://schemas.microsoft.com/office/drawing/2014/main" id="{15D3E4A9-2A27-447D-B29C-A96C286E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625CCD7-108F-4EAA-AD95-501F285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47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4390FA7C-36D3-40C3-BE7B-7A5C838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DATA FOUNDATION</a:t>
            </a:r>
          </a:p>
        </p:txBody>
      </p:sp>
      <p:sp>
        <p:nvSpPr>
          <p:cNvPr id="48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79397F18-1F62-44DE-A7D3-689F16F4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Pydantic validation</a:t>
            </a:r>
          </a:p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PostgreSQL + Alembic</a:t>
            </a:r>
          </a:p>
        </p:txBody>
      </p:sp>
      <p:sp>
        <p:nvSpPr>
          <p:cNvPr id="49" name="architecture-card-3">
            <a:extLst xmlns:a="http://schemas.openxmlformats.org/drawingml/2006/main">
              <a:ext uri="{FF2B5EF4-FFF2-40B4-BE49-F238E27FC236}">
                <a16:creationId xmlns:a16="http://schemas.microsoft.com/office/drawing/2014/main" id="{36AA4610-1A5E-49DF-8344-C5F1EBC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C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architecture-accent-3">
            <a:extLst xmlns:a="http://schemas.openxmlformats.org/drawingml/2006/main">
              <a:ext uri="{FF2B5EF4-FFF2-40B4-BE49-F238E27FC236}">
                <a16:creationId xmlns:a16="http://schemas.microsoft.com/office/drawing/2014/main" id="{FAA92734-24ED-45F1-A9A9-A74C88A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33DF3D6F-3C2C-4DC3-B0DE-A722E77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52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0DF4FB9A-17A2-4797-BBAD-9BAF57B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90000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A90000"/>
                </a:solidFill>
                <a:latin typeface="Verdana"/>
                <a:ea typeface="Verdana"/>
                <a:cs typeface="Verdana"/>
              </a:rPr>
              <a:t>ANALYTICS ENGINE</a:t>
            </a:r>
          </a:p>
        </p:txBody>
      </p:sp>
      <p:sp>
        <p:nvSpPr>
          <p:cNvPr id="53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432C9313-55C5-4A5F-BC70-F5749F4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KPIs + benchmarks</a:t>
            </a:r>
          </a:p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Deterministic opportunities</a:t>
            </a:r>
          </a:p>
        </p:txBody>
      </p:sp>
      <p:sp>
        <p:nvSpPr>
          <p:cNvPr id="54" name="architecture-card-4">
            <a:extLst xmlns:a="http://schemas.openxmlformats.org/drawingml/2006/main">
              <a:ext uri="{FF2B5EF4-FFF2-40B4-BE49-F238E27FC236}">
                <a16:creationId xmlns:a16="http://schemas.microsoft.com/office/drawing/2014/main" id="{6ACEBFBB-FE5C-4B44-B8C8-2FD44830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architecture-accent-4">
            <a:extLst xmlns:a="http://schemas.openxmlformats.org/drawingml/2006/main">
              <a:ext uri="{FF2B5EF4-FFF2-40B4-BE49-F238E27FC236}">
                <a16:creationId xmlns:a16="http://schemas.microsoft.com/office/drawing/2014/main" id="{95031890-00B9-45E4-86B0-511F0628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0C1FED5D-0170-4ED0-B8DB-E07E9AE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7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05E8CF2A-B0B6-438E-97D8-CCEE561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API + AI GUARDRAIL</a:t>
            </a:r>
          </a:p>
        </p:txBody>
      </p:sp>
      <p:sp>
        <p:nvSpPr>
          <p:cNvPr id="58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172D052B-D69B-4EA3-B351-FA6F9073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FastAPI services</a:t>
            </a:r>
          </a:p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context to the LLM</a:t>
            </a:r>
          </a:p>
        </p:txBody>
      </p:sp>
      <p:sp>
        <p:nvSpPr>
          <p:cNvPr id="59" name="architecture-card-5">
            <a:extLst xmlns:a="http://schemas.openxmlformats.org/drawingml/2006/main">
              <a:ext uri="{FF2B5EF4-FFF2-40B4-BE49-F238E27FC236}">
                <a16:creationId xmlns:a16="http://schemas.microsoft.com/office/drawing/2014/main" id="{77C377E3-1A49-4810-B194-09EE03B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architecture-accent-5">
            <a:extLst xmlns:a="http://schemas.openxmlformats.org/drawingml/2006/main">
              <a:ext uri="{FF2B5EF4-FFF2-40B4-BE49-F238E27FC236}">
                <a16:creationId xmlns:a16="http://schemas.microsoft.com/office/drawing/2014/main" id="{BAC41749-DC44-4830-83DA-2EBD9BE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4905FC91-52E7-4F32-B608-ECE8AAFB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62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D44EFE73-8E95-466B-8E2C-6B63CD6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PROCUREMENT UX</a:t>
            </a:r>
          </a:p>
        </p:txBody>
      </p:sp>
      <p:sp>
        <p:nvSpPr>
          <p:cNvPr id="63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0157D45A-CCD5-40D6-A43A-D7EDA9C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React + Recharts</a:t>
            </a:r>
          </a:p>
          <a:p xmlns:a="http://schemas.openxmlformats.org/drawingml/2006/main"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Filters, review and action</a:t>
            </a:r>
          </a:p>
        </p:txBody>
      </p:sp>
      <p:sp>
        <p:nvSpPr>
          <p:cNvPr id="64" name="architecture-truth-bar">
            <a:extLst xmlns:a="http://schemas.openxmlformats.org/drawingml/2006/main">
              <a:ext uri="{FF2B5EF4-FFF2-40B4-BE49-F238E27FC236}">
                <a16:creationId xmlns:a16="http://schemas.microsoft.com/office/drawing/2014/main" id="{995C4905-1623-4903-8481-E21B770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39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  <p:txBody>
          <a:bodyPr xmlns:a="http://schemas.openxmlformats.org/drawingml/2006/main" lIns="114300" tIns="19050" rIns="1143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DETERMINISTIC ANALYTICS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calculates facts   •   </a:t>
            </a:r>
            <a:r>
              <a:rPr sz="1200" b="1">
                <a:solidFill>
                  <a:srgbClr val="FF6B6B"/>
                </a:solidFill>
                <a:latin typeface="Verdana"/>
                <a:ea typeface="Verdana"/>
                <a:cs typeface="Verdana"/>
              </a:rPr>
              <a:t>AI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explains verified context   •   </a:t>
            </a: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PEOPLE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decide</a:t>
            </a:r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6954f779c504c04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END-TO-END USE CASE – LIVE DEMO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205520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260"/>
                <a:gridCol w="2795968"/>
                <a:gridCol w="24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 Case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Module(s) Involved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Status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Notes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1. Import data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Pydantic</a:t>
                      </a:r>
                      <a:endParaRPr/>
                    </a:p>
                    <a:p>
                      <a:r>
                        <a:t>PostgreSQL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47,128 rows</a:t>
                      </a:r>
                      <a:endParaRPr/>
                    </a:p>
                    <a:p>
                      <a:r>
                        <a:t>0 rejected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2. Run analytics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SQL services</a:t>
                      </a:r>
                      <a:endParaRPr/>
                    </a:p>
                    <a:p>
                      <a:r>
                        <a:t>Benchmarks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$411.18M spend</a:t>
                      </a:r>
                      <a:endParaRPr/>
                    </a:p>
                    <a:p>
                      <a:r>
                        <a:t>50 benchmarks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3. Review actions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FastAPI</a:t>
                      </a:r>
                      <a:endParaRPr/>
                    </a:p>
                    <a:p>
                      <a:r>
                        <a:t>React • AI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254 findings</a:t>
                      </a:r>
                      <a:endParaRPr/>
                    </a:p>
                    <a:p>
                      <a:r>
                        <a:t>$12.51M price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D98744-D6FD-47FD-ABDF-7C52B1EF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00000"/>
            <a:ext cx="10965218" cy="2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Demo outcome:</a:t>
            </a:r>
          </a:p>
          <a:p xmlns:a="http://schemas.openxmlformats.org/drawingml/2006/main">
            <a:pPr marL="18" indent="-10">
              <a:buChar char="•"/>
            </a:pPr>
            <a:r>
              <a:t>Dashboard and API use actual imported data.</a:t>
            </a:r>
          </a:p>
          <a:p xmlns:a="http://schemas.openxmlformats.org/drawingml/2006/main">
            <a:pPr marL="18" indent="-10">
              <a:buChar char="•"/>
            </a:pPr>
            <a:r>
              <a:t>Filters, pagination and opportunity details are live.</a:t>
            </a:r>
          </a:p>
          <a:p xmlns:a="http://schemas.openxmlformats.org/drawingml/2006/main">
            <a:pPr marL="18" indent="-10">
              <a:buChar char="•"/>
            </a:pPr>
            <a:r>
              <a:t>AI fallback remains safe when the provider is unavailable.</a:t>
            </a:r>
          </a:p>
          <a:p xmlns:a="http://schemas.openxmlformats.org/drawingml/2006/main">
            <a:pPr marL="18" indent="-10">
              <a:buChar char="•"/>
            </a:pPr>
            <a:r>
              <a:t>57 automated tests and the production frontend build passed.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a062e07cf934a49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Reviewed five IEEE Access journal articles published from 2024–2026.</a:t>
            </a:r>
          </a:p>
          <a:p xmlns:a="http://schemas.openxmlformats.org/drawingml/2006/main">
            <a:pPr marL="22" indent="-12">
              <a:buChar char="•"/>
            </a:pPr>
            <a:r>
              <a:t>Selection: peer-reviewed IEEE journal articles; conference papers were excluded.</a:t>
            </a:r>
          </a:p>
          <a:p xmlns:a="http://schemas.openxmlformats.org/drawingml/2006/main">
            <a:pPr marL="22" indent="-12">
              <a:buChar char="•"/>
            </a:pPr>
            <a:r>
              <a:t>Methods span fuzzy MCDM, blockchain, linguistic risk assessment and machine-learning optimization.</a:t>
            </a:r>
          </a:p>
          <a:p xmlns:a="http://schemas.openxmlformats.org/drawingml/2006/main">
            <a:pPr marL="22" indent="-12">
              <a:buChar char="•"/>
            </a:pPr>
            <a:r>
              <a:t>Gap: existing studies optimize isolated decisions; ProcureSight unifies analytics, opportunities and grounded explanations.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e61f5d95548645ec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1/5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Haffar &amp; Ozceylan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Transparent supplier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Hybrid blockchain + reverse auction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Auditable, scalable selection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IEEE Access 12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Sustainable + leagile criteria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Functional, scale and security tests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Traceable supplier decisions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ProcureSight takeaway:</a:t>
            </a:r>
          </a:p>
          <a:p xmlns:a="http://schemas.openxmlformats.org/drawingml/2006/main">
            <a:pPr marL="18" indent="-10">
              <a:buChar char="•"/>
            </a:pPr>
            <a:r>
              <a:t>Supplier evaluation should combine cost, quality, delivery and sustainability—not price alone.</a:t>
            </a:r>
          </a:p>
          <a:p xmlns:a="http://schemas.openxmlformats.org/drawingml/2006/main">
            <a:pPr marL="18" indent="-10">
              <a:buChar char="•"/>
            </a:pPr>
            <a:r>
              <a:t>Decision evidence must remain traceable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cd94ff1bcf624d68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2/5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Runtuk et al.</a:t>
                      </a:r>
                      <a:endParaRPr/>
                    </a:p>
                    <a:p>
                      <a:r>
                        <a:t>2025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Performance-based supplier ranking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Fuzzy VIKOR vs Fuzzy MOORA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MOORA was faster and responsive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Manufacturing case study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Criteria weighting + sensitivity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Transparent multi-metric ranking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ProcureSight takeaway:</a:t>
            </a:r>
          </a:p>
          <a:p xmlns:a="http://schemas.openxmlformats.org/drawingml/2006/main">
            <a:pPr marL="18" indent="-10">
              <a:buChar char="•"/>
            </a:pPr>
            <a:r>
              <a:t>Supplier scores should expose criteria, weights and sensitivity.</a:t>
            </a:r>
          </a:p>
          <a:p xmlns:a="http://schemas.openxmlformats.org/drawingml/2006/main">
            <a:pPr marL="18" indent="-10">
              <a:buChar char="•"/>
            </a:pPr>
            <a:r>
              <a:t>ProcureSight keeps ranking deterministic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a75e1c0375b46f9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3/5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Qiu et al.</a:t>
                      </a:r>
                      <a:endParaRPr/>
                    </a:p>
                    <a:p>
                      <a:r>
                        <a:t>2025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Supply-chain risk prioritization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PLTS + extended CRADIS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Handles uncertain judgments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Sports-industry supply chain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Multi-criteria risk assessment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Explainable risk ranking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ProcureSight takeaway:</a:t>
            </a:r>
          </a:p>
          <a:p xmlns:a="http://schemas.openxmlformats.org/drawingml/2006/main">
            <a:pPr marL="18" indent="-10">
              <a:buChar char="•"/>
            </a:pPr>
            <a:r>
              <a:t>Qualitative risk can support decisions when uncertainty is represented explicitly.</a:t>
            </a:r>
          </a:p>
          <a:p xmlns:a="http://schemas.openxmlformats.org/drawingml/2006/main">
            <a:pPr marL="18" indent="-10">
              <a:buChar char="•"/>
            </a:pPr>
            <a:r>
              <a:t>ProcureSight uses verified operational metrics; richer risk models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119f87e6a2ad4503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4/5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Moretti et al.</a:t>
                      </a:r>
                      <a:endParaRPr/>
                    </a:p>
                    <a:p>
                      <a:r>
                        <a:t>2025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Green supplier criteria weighting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Least-to-Most Range method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Robust weighting across criteria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Green supplier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complementary scales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Consistent priority scoring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ProcureSight takeaway:</a:t>
            </a:r>
          </a:p>
          <a:p xmlns:a="http://schemas.openxmlformats.org/drawingml/2006/main">
            <a:pPr marL="18" indent="-10">
              <a:buChar char="•"/>
            </a:pPr>
            <a:r>
              <a:t>Criteria weighting must remain consistent as the number of indicators grows.</a:t>
            </a:r>
          </a:p>
          <a:p xmlns:a="http://schemas.openxmlformats.org/drawingml/2006/main">
            <a:pPr marL="18" indent="-10">
              <a:buChar char="•"/>
            </a:pPr>
            <a:r>
              <a:t>ProcureSight uses configurable deterministic thresholds and scoring.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c1d2cd5d3ec2424f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5/5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Shahsavary et al.</a:t>
                      </a:r>
                      <a:endParaRPr/>
                    </a:p>
                    <a:p>
                      <a:r>
                        <a:t>2026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Distributed supply-chain design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Random Forest + bi-objective ILP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Balances predicted risk and cost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IEEE Access 14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Automotive case study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Country-risk prediction + optimization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Risk-aware sourcing decisions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ProcureSight takeaway:</a:t>
            </a:r>
          </a:p>
          <a:p xmlns:a="http://schemas.openxmlformats.org/drawingml/2006/main">
            <a:pPr marL="18" indent="-10">
              <a:buChar char="•"/>
            </a:pPr>
            <a:r>
              <a:t>Machine learning is most useful when its predictions feed a transparent decision model.</a:t>
            </a:r>
          </a:p>
          <a:p xmlns:a="http://schemas.openxmlformats.org/drawingml/2006/main">
            <a:pPr marL="18" indent="-10">
              <a:buChar char="•"/>
            </a:pPr>
            <a:r>
              <a:t>ProcureSight keeps forecasting outside Phase 1 and does not claim predictive risk.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02a95c0e0e7a49a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SYNTHESIS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Papers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Shared contribution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ProcureSight relevance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Supplier evaluation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Papers 1, 2 and 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Transparent multi-criteria ranking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Supplier score + cost context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Risk-aware decisions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Papers 3 and 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Uncertainty enters formal models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Quality, delivery + contract signals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r>
              <a:t>• Recent IEEE research favors transparent, multi-criteria and risk-aware decision support.</a:t>
            </a:r>
          </a:p>
          <a:p xmlns:a="http://schemas.openxmlformats.org/drawingml/2006/main">
            <a:r>
              <a:t>• The evidence supports deterministic analytics with human review—not autonomous procurement.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3170f17645544a48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Observed gap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Evidence from review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Why it matters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Project response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Siloed decision models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Selection, risk and optimization remain separate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unified operational 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spend-to-opportunity workflow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Limited explanation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Rankings rarely narrate source evidence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Adoption needs traceability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uses verified facts only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4419600"/>
            <a:ext cx="1096518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Gap addressed:</a:t>
            </a:r>
          </a:p>
          <a:p xmlns:a="http://schemas.openxmlformats.org/drawingml/2006/main">
            <a:r>
              <a:t>• ProcureSight connects auditable calculations, configurable opportunities and grounded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c587189171d4d4d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DESIGN IMPLICATIONS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Literature principle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Backend implementation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AI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User outcome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Multi-criteria decisions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Price, quality, delivery + contract metrics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performs no numerical calculation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Explainable supplier review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Risk-aware human judgment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Deterministic scoring + confidence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Verified context + validated output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 support, not autonomy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Resulting architecture:</a:t>
            </a:r>
          </a:p>
          <a:p xmlns:a="http://schemas.openxmlformats.org/drawingml/2006/main">
            <a:r>
              <a:t>• Deterministic analytics calculates facts; AI explains verified context; procurement professionals decide.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1200" y="3168074"/>
            <a:ext cx="10668000" cy="1216025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0F7333B-44AC-F7E9-D49D-FE92F45E0477}" type="slidenum">
              <a:t>17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2026-08-27T07:52:26.9270000Z</dcterms:created>
  <dcterms:modified xsi:type="dcterms:W3CDTF">2026-08-27T07:52:26.9270000Z</dcterms:modified>
</coreProperties>
</file>