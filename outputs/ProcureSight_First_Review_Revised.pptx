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d448fcd335474c" /><Relationship Type="http://schemas.openxmlformats.org/officeDocument/2006/relationships/extended-properties" Target="/docProps/app.xml" Id="R8b99520afeea4b0c" /><Relationship Type="http://schemas.openxmlformats.org/officeDocument/2006/relationships/officeDocument" Target="/ppt/presentation.xml" Id="R92ea43a559674d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938dfbfbe74473"/>
  </p:sldMasterIdLst>
  <p:notesMasterIdLst>
    <p:notesMasterId xmlns:r="http://schemas.openxmlformats.org/officeDocument/2006/relationships" r:id="Ra46ebda759af4913"/>
  </p:notesMasterIdLst>
  <p:sldIdLst>
    <p:sldId xmlns:r="http://schemas.openxmlformats.org/officeDocument/2006/relationships" id="256" r:id="R79a05571736544dd"/>
    <p:sldId xmlns:r="http://schemas.openxmlformats.org/officeDocument/2006/relationships" id="257" r:id="Re8f085e7a7534b4d"/>
    <p:sldId xmlns:r="http://schemas.openxmlformats.org/officeDocument/2006/relationships" id="258" r:id="Rd1691d9037714c92"/>
    <p:sldId xmlns:r="http://schemas.openxmlformats.org/officeDocument/2006/relationships" id="259" r:id="Rfb4d9a6245094cf4"/>
    <p:sldId xmlns:r="http://schemas.openxmlformats.org/officeDocument/2006/relationships" id="260" r:id="R2459e061ffa14203"/>
    <p:sldId xmlns:r="http://schemas.openxmlformats.org/officeDocument/2006/relationships" id="261" r:id="R23dd6f9ea4db4cea"/>
    <p:sldId xmlns:r="http://schemas.openxmlformats.org/officeDocument/2006/relationships" id="262" r:id="Ra59c9a83bb0b4278"/>
    <p:sldId xmlns:r="http://schemas.openxmlformats.org/officeDocument/2006/relationships" id="263" r:id="R29039679239a4589"/>
    <p:sldId xmlns:r="http://schemas.openxmlformats.org/officeDocument/2006/relationships" id="264" r:id="R080675cab4474a7f"/>
    <p:sldId xmlns:r="http://schemas.openxmlformats.org/officeDocument/2006/relationships" id="265" r:id="R18c04ee3b43c4656"/>
    <p:sldId xmlns:r="http://schemas.openxmlformats.org/officeDocument/2006/relationships" id="266" r:id="Rab4241ef9fbf4b61"/>
    <p:sldId xmlns:r="http://schemas.openxmlformats.org/officeDocument/2006/relationships" id="267" r:id="Re0a1d7b4c47d4b5b"/>
    <p:sldId xmlns:r="http://schemas.openxmlformats.org/officeDocument/2006/relationships" id="268" r:id="R70d9e27fa487494f"/>
    <p:sldId xmlns:r="http://schemas.openxmlformats.org/officeDocument/2006/relationships" id="269" r:id="Raf1021bd78724b94"/>
    <p:sldId xmlns:r="http://schemas.openxmlformats.org/officeDocument/2006/relationships" id="270" r:id="Re7458517051f42d8"/>
    <p:sldId xmlns:r="http://schemas.openxmlformats.org/officeDocument/2006/relationships" id="271" r:id="Rdc8b656efa46436d"/>
    <p:sldId xmlns:r="http://schemas.openxmlformats.org/officeDocument/2006/relationships" id="272" r:id="R1361f065d1c447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51b0b4586e4750" /><Relationship Type="http://schemas.openxmlformats.org/officeDocument/2006/relationships/slideMaster" Target="/ppt/slideMasters/slideMaster1.xml" Id="R97938dfbfbe74473" /><Relationship Type="http://schemas.openxmlformats.org/officeDocument/2006/relationships/notesMaster" Target="/ppt/notesMasters/notesMaster1.xml" Id="Ra46ebda759af4913" /><Relationship Type="http://schemas.openxmlformats.org/officeDocument/2006/relationships/presProps" Target="/ppt/presProps.xml" Id="R0f4bf602746542fd" /><Relationship Type="http://schemas.openxmlformats.org/officeDocument/2006/relationships/viewProps" Target="/ppt/viewProps.xml" Id="Re926695976e548cf" /><Relationship Type="http://schemas.openxmlformats.org/officeDocument/2006/relationships/tableStyles" Target="/ppt/tableStyles.xml" Id="Rf50ea8120c724b36" /><Relationship Type="http://schemas.openxmlformats.org/officeDocument/2006/relationships/slide" Target="/ppt/slides/slide1.xml" Id="R79a05571736544dd" /><Relationship Type="http://schemas.openxmlformats.org/officeDocument/2006/relationships/slide" Target="/ppt/slides/slide2.xml" Id="Re8f085e7a7534b4d" /><Relationship Type="http://schemas.openxmlformats.org/officeDocument/2006/relationships/slide" Target="/ppt/slides/slide3.xml" Id="Rd1691d9037714c92" /><Relationship Type="http://schemas.openxmlformats.org/officeDocument/2006/relationships/slide" Target="/ppt/slides/slide4.xml" Id="Rfb4d9a6245094cf4" /><Relationship Type="http://schemas.openxmlformats.org/officeDocument/2006/relationships/slide" Target="/ppt/slides/slide5.xml" Id="R2459e061ffa14203" /><Relationship Type="http://schemas.openxmlformats.org/officeDocument/2006/relationships/slide" Target="/ppt/slides/slide6.xml" Id="R23dd6f9ea4db4cea" /><Relationship Type="http://schemas.openxmlformats.org/officeDocument/2006/relationships/slide" Target="/ppt/slides/slide7.xml" Id="Ra59c9a83bb0b4278" /><Relationship Type="http://schemas.openxmlformats.org/officeDocument/2006/relationships/slide" Target="/ppt/slides/slide8.xml" Id="R29039679239a4589" /><Relationship Type="http://schemas.openxmlformats.org/officeDocument/2006/relationships/slide" Target="/ppt/slides/slide9.xml" Id="R080675cab4474a7f" /><Relationship Type="http://schemas.openxmlformats.org/officeDocument/2006/relationships/slide" Target="/ppt/slides/slide10.xml" Id="R18c04ee3b43c4656" /><Relationship Type="http://schemas.openxmlformats.org/officeDocument/2006/relationships/slide" Target="/ppt/slides/slide11.xml" Id="Rab4241ef9fbf4b61" /><Relationship Type="http://schemas.openxmlformats.org/officeDocument/2006/relationships/slide" Target="/ppt/slides/slide12.xml" Id="Re0a1d7b4c47d4b5b" /><Relationship Type="http://schemas.openxmlformats.org/officeDocument/2006/relationships/slide" Target="/ppt/slides/slide13.xml" Id="R70d9e27fa487494f" /><Relationship Type="http://schemas.openxmlformats.org/officeDocument/2006/relationships/slide" Target="/ppt/slides/slide14.xml" Id="Raf1021bd78724b94" /><Relationship Type="http://schemas.openxmlformats.org/officeDocument/2006/relationships/slide" Target="/ppt/slides/slide15.xml" Id="Re7458517051f42d8" /><Relationship Type="http://schemas.openxmlformats.org/officeDocument/2006/relationships/slide" Target="/ppt/slides/slide16.xml" Id="Rdc8b656efa46436d" /><Relationship Type="http://schemas.openxmlformats.org/officeDocument/2006/relationships/slide" Target="/ppt/slides/slide17.xml" Id="R1361f065d1c447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89098f96b44b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Profile 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220120a9404516" /><Relationship Type="http://schemas.openxmlformats.org/officeDocument/2006/relationships/notesMaster" Target="/ppt/notesMasters/notesMaster1.xml" Id="R1f4339a621694a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a9a58a17de4c6e" /><Relationship Type="http://schemas.openxmlformats.org/officeDocument/2006/relationships/notesMaster" Target="/ppt/notesMasters/notesMaster1.xml" Id="Ra1a1eb4eb6074d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64b1572c5a4c3d" /><Relationship Type="http://schemas.openxmlformats.org/officeDocument/2006/relationships/notesMaster" Target="/ppt/notesMasters/notesMaster1.xml" Id="Rd2a74b2c32a84a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68dff26d6e4dac" /><Relationship Type="http://schemas.openxmlformats.org/officeDocument/2006/relationships/notesMaster" Target="/ppt/notesMasters/notesMaster1.xml" Id="R602461eb264f40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3190cbbfdc4235" /><Relationship Type="http://schemas.openxmlformats.org/officeDocument/2006/relationships/notesMaster" Target="/ppt/notesMasters/notesMaster1.xml" Id="R2449539b695b4d7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46824def034502" /><Relationship Type="http://schemas.openxmlformats.org/officeDocument/2006/relationships/notesMaster" Target="/ppt/notesMasters/notesMaster1.xml" Id="R569758a880ca4b3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a42ac7c3474b4b" /><Relationship Type="http://schemas.openxmlformats.org/officeDocument/2006/relationships/notesMaster" Target="/ppt/notesMasters/notesMaster1.xml" Id="Reeb3e896d8504cd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0c8d63a2d09454b" /><Relationship Type="http://schemas.openxmlformats.org/officeDocument/2006/relationships/notesMaster" Target="/ppt/notesMasters/notesMaster1.xml" Id="R4382a5a58e7340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66f2096d5a34d83" /><Relationship Type="http://schemas.openxmlformats.org/officeDocument/2006/relationships/notesMaster" Target="/ppt/notesMasters/notesMaster1.xml" Id="R343bca504c37455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b823760aae04685" /><Relationship Type="http://schemas.openxmlformats.org/officeDocument/2006/relationships/notesMaster" Target="/ppt/notesMasters/notesMaster1.xml" Id="R094f8d528a1a46f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30d82619ec24d97" /><Relationship Type="http://schemas.openxmlformats.org/officeDocument/2006/relationships/notesMaster" Target="/ppt/notesMasters/notesMaster1.xml" Id="Rf0d2704d598d420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1f5750b01ef421b" /><Relationship Type="http://schemas.openxmlformats.org/officeDocument/2006/relationships/notesMaster" Target="/ppt/notesMasters/notesMaster1.xml" Id="Rfe6223efec164fa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35d3f8abdd84021" /><Relationship Type="http://schemas.openxmlformats.org/officeDocument/2006/relationships/notesMaster" Target="/ppt/notesMasters/notesMaster1.xml" Id="R685e06ba94d2403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20b6f54d29e434b" /><Relationship Type="http://schemas.openxmlformats.org/officeDocument/2006/relationships/notesMaster" Target="/ppt/notesMasters/notesMaster1.xml" Id="R82df027f8cf942c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a2e60b3a9104675" /><Relationship Type="http://schemas.openxmlformats.org/officeDocument/2006/relationships/notesMaster" Target="/ppt/notesMasters/notesMaster1.xml" Id="R90af03136d48406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43728517d714d2c" /><Relationship Type="http://schemas.openxmlformats.org/officeDocument/2006/relationships/notesMaster" Target="/ppt/notesMasters/notesMaster1.xml" Id="R46cedd3fccad4ec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44ab69f2c9545db" /><Relationship Type="http://schemas.openxmlformats.org/officeDocument/2006/relationships/notesMaster" Target="/ppt/notesMasters/notesMaster1.xml" Id="Rc3e7fb88672741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ProcureSight First Review presentation.</a:t>
            </a:r>
          </a:p>
          <a:p xmlns:a="http://schemas.openxmlformats.org/drawingml/2006/main">
            <a:r>
              <a:t>Replace the supervisor and roll-number placeholders before submission.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/Users/ani81/Documents/Final Year Project/README.md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/Users/ani81/Documents/Final Year Project/README.md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/Users/ani81/Documents/Final Year Project/README.md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/Users/ani81/Documents/Final Year Project/README.md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/Users/ani81/Documents/Final Year Project/README.md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/Users/ani81/Documents/Final Year Project/README.md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/Users/ani81/Documents/Final Year Project/README.md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Literature survey covers 16 papers from 2021-2025.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See the DOI and publication links in slides 9-16.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https://doi.org/10.1016/j.jbusres.2020.09.009</a:t>
            </a:r>
          </a:p>
          <a:p xmlns:a="http://schemas.openxmlformats.org/drawingml/2006/main">
            <a:r>
              <a:t>- https://doi.org/10.1016/j.ijpe.2021.108250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https://doi.org/10.1016/j.eswa.2021.114702</a:t>
            </a:r>
          </a:p>
          <a:p xmlns:a="http://schemas.openxmlformats.org/drawingml/2006/main">
            <a:r>
              <a:t>- https://doi.org/10.1016/j.jbusres.2020.11.050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https://doi.org/10.1016/j.pursup.2023.100823</a:t>
            </a:r>
          </a:p>
          <a:p xmlns:a="http://schemas.openxmlformats.org/drawingml/2006/main">
            <a:r>
              <a:t>- https://doi.org/10.1016/j.pursup.2024.100896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https://doi.org/10.1504/IJPM.2024.135175</a:t>
            </a:r>
          </a:p>
          <a:p xmlns:a="http://schemas.openxmlformats.org/drawingml/2006/main">
            <a:r>
              <a:t>- https://doi.org/10.1287/inte.2023.0099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https://doi.org/10.1016/j.sca.2024.100074</a:t>
            </a:r>
          </a:p>
          <a:p xmlns:a="http://schemas.openxmlformats.org/drawingml/2006/main">
            <a:r>
              <a:t>- https://doi.org/10.4018/IJDSST.292449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https://arxiv.org/abs/2303.12765</a:t>
            </a:r>
          </a:p>
          <a:p xmlns:a="http://schemas.openxmlformats.org/drawingml/2006/main">
            <a:r>
              <a:t>- https://arxiv.org/abs/2210.11953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https://arxiv.org/abs/2304.10105</a:t>
            </a:r>
          </a:p>
          <a:p xmlns:a="http://schemas.openxmlformats.org/drawingml/2006/main">
            <a:r>
              <a:t>- https://doi.org/10.1007/978-3-031-53227-6_8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https://arxiv.org/abs/2410.09077</a:t>
            </a:r>
          </a:p>
          <a:p xmlns:a="http://schemas.openxmlformats.org/drawingml/2006/main">
            <a:r>
              <a:t>- https://doi.org/10.4018/JGIM.335125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24566d6f2b46c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83c13a5c0a470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6b05ed65df4c8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ba96932f5543e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659e113a114a5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5374832108444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8de9a7d09441f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0a59089289490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c5b7148cda4e5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c88acd9e0e49f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3b9ab440254037" /></Relationships>
</file>

<file path=ppt/slideLayouts/slideLayout1.xml><?xml version="1.0" encoding="utf-8"?>
<p:sldLayout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7">
            <a:extLst xmlns:a="http://schemas.openxmlformats.org/drawingml/2006/main">
              <a:ext uri="{FF2B5EF4-FFF2-40B4-BE49-F238E27FC236}">
                <a16:creationId xmlns:a16="http://schemas.microsoft.com/office/drawing/2014/main" id="{8D13192D-1816-F03A-9AF1-BBA902A8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3950"/>
            <a:ext cx="10363200" cy="109538"/>
          </a:xfrm>
          <a:custGeom xmlns:a="http://schemas.openxmlformats.org/drawingml/2006/main"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rect l="0" t="0" r="r" b="b"/>
            <a:pathLst>
              <a:path w="1000" h="100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 w="9525">
            <a:solidFill>
              <a:schemeClr val="accent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800"/>
          </a:p>
        </p:txBody>
      </p:sp>
      <p:sp>
        <p:nvSpPr>
          <p:cNvPr id="512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0D40E0F-0195-446A-84A2-FF7DB0DF934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990600"/>
            <a:ext cx="10363200" cy="1371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4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123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B6CF682-C4D2-482D-83AC-8969458A72F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930400" y="3429000"/>
            <a:ext cx="9347200" cy="16002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Font typeface="Wingdings"/>
              <a:buNone/>
              <a:defRPr sz="2800"/>
            </a:lvl1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814B6A37-AD04-C654-AC92-D9CC3ADF0A5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914400" y="6248400"/>
            <a:ext cx="2540000" cy="4572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Zeroth Review</a:t>
            </a:r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EE58272B-7D6B-F3CE-953F-1079FFA8D80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65600" y="6248400"/>
            <a:ext cx="3860800" cy="4572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55F3314-4EF0-936B-77EE-175E9EF6B55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37600" y="6248400"/>
            <a:ext cx="2540000" cy="4572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D8F95DA7-9E0E-467D-A139-0471DC1777C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129D19-E5F1-4727-961C-169523DA33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B23457F-0716-4763-BCA4-EB83C9DE187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A88B164-965D-9E09-9E7D-16374A9EAD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Zeroth Review</a:t>
            </a:r>
          </a:p>
        </p:txBody>
      </p:sp>
      <p:sp>
        <p:nvSpPr>
          <p:cNvPr id="5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E044AE8-B23C-D8C6-4D87-EADCB1C0F02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6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E04F0FC-AAC5-064C-CDAD-FF80D73B38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BDC2143B-610F-499C-A392-DFFBE135A7B2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B459B53-47C9-48B6-8537-5F568A5006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1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A3D8C5D-DEC2-4CD6-84C7-8D5001D534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E3D50AC-D896-487B-A964-4F2362A2FC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Zeroth Review</a:t>
            </a:r>
          </a:p>
        </p:txBody>
      </p:sp>
      <p:sp>
        <p:nvSpPr>
          <p:cNvPr id="5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860975C-7E6F-6BD7-97FB-B68EFA315FE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6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25DB3BD-FB8F-C610-9A37-B3ADF214A3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575C213C-AC18-4D5A-BA73-4550FF50B842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3DCD9F1-B400-4934-9305-146187649D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908D57A-F232-480B-B9C2-604E4715298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55651" y="1752600"/>
            <a:ext cx="5232400" cy="42672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89972DC-0F60-41EE-BAD9-0FA8B215167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1251" y="1752600"/>
            <a:ext cx="5232400" cy="42672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CC1F139-34C5-A295-F629-88EF76019A5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Zeroth Review</a:t>
            </a:r>
          </a:p>
        </p:txBody>
      </p:sp>
      <p:sp>
        <p:nvSpPr>
          <p:cNvPr id="6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B20EB37-7A2A-E49D-01DB-6418D7037D0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7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4FAAEF5-CC11-F779-153E-E74E333E5A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7A8ED4EA-E359-45F1-B86A-A40772B25C2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BED07CA-4AE6-4A8F-A979-97F3E18002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74638"/>
            <a:ext cx="10972800" cy="11430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81BCD9F-0458-477A-B8A6-87289502B8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FF6084C-2187-4446-89BA-C7497E84F29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ED7B1DC-549E-4C33-94B2-0D3F9E36FE5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8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42CA10D-6511-4B12-9097-EB1CD510774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68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B4E764D-F83F-9CC9-8E38-FEA9647AB75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Zeroth Review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ABF83D4-B422-239C-8C38-4509A66ADB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81238FA-AFA9-8287-25C9-98D6042CFD3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E637AD66-1F60-49BE-A2E9-D91D10CB91F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0BC7FC7-E1B0-474D-999C-409269CC09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80D49F1-7BF0-A0A8-0C0A-9B4F1788B3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Zeroth Review</a:t>
            </a:r>
          </a:p>
        </p:txBody>
      </p:sp>
      <p:sp>
        <p:nvSpPr>
          <p:cNvPr id="4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DDDAEBE-B0DA-0212-414B-C9FFC612D8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5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430D5C8-DD0F-C0FD-D016-9055C67C40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F583B680-F650-469F-A231-392F163461F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0400DB2-066A-4CAE-071C-1EAF9DDB727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Zeroth Review</a:t>
            </a:r>
          </a:p>
        </p:txBody>
      </p:sp>
      <p:sp>
        <p:nvSpPr>
          <p:cNvPr id="3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AB14BBF-3825-C6B5-25F7-8686AAD7C35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4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84D417B-4541-5C9D-274F-9952E6F120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DD537315-F462-4C74-88B4-A900525A3FAA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79662ED-8470-4AE5-9596-2D8AE95BD7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1" y="273050"/>
            <a:ext cx="4011084" cy="1162050"/>
          </a:xfr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42FD3FE-13C3-4AF3-ABD0-9C3277E2F5B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1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D677807-57D6-4861-94B4-026E024E8B9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1" y="1435101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0B1A011-C2F2-C9FC-9DD8-A4E6A00AA4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Zeroth Review</a:t>
            </a:r>
          </a:p>
        </p:txBody>
      </p:sp>
      <p:sp>
        <p:nvSpPr>
          <p:cNvPr id="6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B4C95F2-7321-CEE1-4FD5-BE988C3BAE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7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4AB3D0A-7C9E-40E8-0F27-0C737BD346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379B2829-DA13-4801-8FBD-6D5729CB959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BBE36CB-42C6-470E-8492-347244D63B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F7AD09E0-2E7E-49E9-B527-832FA83E2ED8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CA9743F-78C8-43A2-9A7E-FD2CB09BB71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531D201-6E7B-DD71-C865-2CC7682520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Zeroth Review</a:t>
            </a:r>
          </a:p>
        </p:txBody>
      </p:sp>
      <p:sp>
        <p:nvSpPr>
          <p:cNvPr id="6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A474AB6-A9CC-8EC3-60F9-BBEDD90B03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7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14DF99B-1424-E931-A0EF-A2CCFECC39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B5B0EEF8-84AE-4BCB-9844-5B22523396C9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C06D13E-39F7-4546-9082-8D1C5814F7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A121AA-FC00-4572-AB73-EC0A569406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E0854C1-7207-EF75-A61A-B4AF54A5D72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Zeroth Review</a:t>
            </a:r>
          </a:p>
        </p:txBody>
      </p:sp>
      <p:sp>
        <p:nvSpPr>
          <p:cNvPr id="5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3D97B6-49D4-67F3-668F-9724FD3523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6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E4FA587-585B-1C1F-066D-B211962B0DB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5367E6EB-B6CA-430B-8761-75C737CF7AF1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5BE1BFE4-F959-4AFD-8A88-E30C3F1EC6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65118" y="304800"/>
            <a:ext cx="2669116" cy="571500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6140E66-E510-4AAD-8F1E-BCC10B7CC6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55651" y="304800"/>
            <a:ext cx="7806267" cy="571500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1D0F6A3-93FF-6A17-402C-31256BC4571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Zeroth Review</a:t>
            </a:r>
          </a:p>
        </p:txBody>
      </p:sp>
      <p:sp>
        <p:nvSpPr>
          <p:cNvPr id="5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B63A9F3-AD04-ED6E-E628-12170F70CE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6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1BD68DD-46F8-E148-C9DD-BDF1256D37A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3031276A-AAE7-4DAF-B5DC-CD9EE96B703D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ba8dcd58f6994db9" /><Relationship Type="http://schemas.openxmlformats.org/officeDocument/2006/relationships/theme" Target="/ppt/slideMasters/theme/theme2.xml" Id="R79b5d417b4474d84" /><Relationship Type="http://schemas.openxmlformats.org/officeDocument/2006/relationships/slideLayout" Target="/ppt/slideLayouts/slideLayout1.xml" Id="Ra4d35229895c4236" /><Relationship Type="http://schemas.openxmlformats.org/officeDocument/2006/relationships/slideLayout" Target="/ppt/slideLayouts/slideLayout2.xml" Id="R868bbca63ca04da5" /><Relationship Type="http://schemas.openxmlformats.org/officeDocument/2006/relationships/slideLayout" Target="/ppt/slideLayouts/slideLayout3.xml" Id="R9d8d8692316242e8" /><Relationship Type="http://schemas.openxmlformats.org/officeDocument/2006/relationships/slideLayout" Target="/ppt/slideLayouts/slideLayout4.xml" Id="R01c03d80ceca4dae" /><Relationship Type="http://schemas.openxmlformats.org/officeDocument/2006/relationships/slideLayout" Target="/ppt/slideLayouts/slideLayout5.xml" Id="Rbb01a0c08cf94192" /><Relationship Type="http://schemas.openxmlformats.org/officeDocument/2006/relationships/slideLayout" Target="/ppt/slideLayouts/slideLayout6.xml" Id="R261d8faaadd54021" /><Relationship Type="http://schemas.openxmlformats.org/officeDocument/2006/relationships/slideLayout" Target="/ppt/slideLayouts/slideLayout7.xml" Id="Rd56df3ec6f2d45b1" /><Relationship Type="http://schemas.openxmlformats.org/officeDocument/2006/relationships/slideLayout" Target="/ppt/slideLayouts/slideLayout8.xml" Id="Rff9b6d83d0694b64" /><Relationship Type="http://schemas.openxmlformats.org/officeDocument/2006/relationships/slideLayout" Target="/ppt/slideLayouts/slideLayout9.xml" Id="R01613df2cdbe4fb4" /><Relationship Type="http://schemas.openxmlformats.org/officeDocument/2006/relationships/slideLayout" Target="/ppt/slideLayouts/slideLayout10.xml" Id="R39aca7d1eb8c497d" /><Relationship Type="http://schemas.openxmlformats.org/officeDocument/2006/relationships/slideLayout" Target="/ppt/slideLayouts/slideLayout11.xml" Id="R16217e7dabd74a40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 rotWithShape="0">
          <a:blip xmlns:r="http://schemas.openxmlformats.org/officeDocument/2006/relationships" r:embed="Rba8dcd58f6994db9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AD52653-E1AE-07CB-DCC9-CD2593D84E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66233" y="304801"/>
            <a:ext cx="10668000" cy="1216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b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BB93799-0450-059C-B337-0FA5C4C373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55651" y="1752600"/>
            <a:ext cx="106680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28" name="AutoShape 4">
            <a:extLst xmlns:a="http://schemas.openxmlformats.org/drawingml/2006/main">
              <a:ext uri="{FF2B5EF4-FFF2-40B4-BE49-F238E27FC236}">
                <a16:creationId xmlns:a16="http://schemas.microsoft.com/office/drawing/2014/main" id="{6B43BBB4-1099-054A-DDAC-B357DD3D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566864"/>
            <a:ext cx="10610851" cy="109537"/>
          </a:xfrm>
          <a:custGeom xmlns:a="http://schemas.openxmlformats.org/drawingml/2006/main"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rect l="0" t="0" r="r" b="b"/>
            <a:pathLst>
              <a:path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 w="9525">
            <a:solidFill>
              <a:schemeClr val="accent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800"/>
          </a:p>
        </p:txBody>
      </p:sp>
      <p:sp>
        <p:nvSpPr>
          <p:cNvPr id="1029" name="Line 5">
            <a:extLst xmlns:a="http://schemas.openxmlformats.org/drawingml/2006/main">
              <a:ext uri="{FF2B5EF4-FFF2-40B4-BE49-F238E27FC236}">
                <a16:creationId xmlns:a16="http://schemas.microsoft.com/office/drawing/2014/main" id="{986B2119-A42B-45B1-6DCF-EF7CC290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12800" y="6172200"/>
            <a:ext cx="1056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">
            <a:solidFill>
              <a:schemeClr val="accent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800"/>
          </a:p>
        </p:txBody>
      </p:sp>
      <p:sp>
        <p:nvSpPr>
          <p:cNvPr id="4102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C6B070B-4AFE-871D-87ED-86092999D2D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12800" y="6245225"/>
            <a:ext cx="264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>
              <a:buNone/>
              <a:defRPr sz="1200"/>
            </a:lvl1pPr>
          </a:lstStyle>
          <a:p xmlns:a="http://schemas.openxmlformats.org/drawingml/2006/main">
            <a:pPr>
              <a:buNone/>
            </a:pPr>
            <a:r>
              <a:t>Zeroth Review</a:t>
            </a:r>
          </a:p>
        </p:txBody>
      </p:sp>
      <p:sp>
        <p:nvSpPr>
          <p:cNvPr id="4103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A33AF8B-6600-80BC-AB7A-98E95CF9D74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245225"/>
            <a:ext cx="3860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 algn="ctr">
              <a:buNone/>
              <a:defRPr sz="1200"/>
            </a:lvl1pPr>
          </a:lstStyle>
          <a:p xmlns:a="http://schemas.openxmlformats.org/drawingml/2006/main"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4104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BD9409A-4B38-651E-F54D-ABAB5C4CEBA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245225"/>
            <a:ext cx="264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 algn="r">
              <a:buNone/>
              <a:defRPr sz="1200"/>
            </a:lvl1pPr>
          </a:lstStyle>
          <a:p xmlns:a="http://schemas.openxmlformats.org/drawingml/2006/main">
            <a:pPr>
              <a:buNone/>
            </a:pPr>
            <a:fld id="{756AFA5A-A15D-402B-9810-66A481E9819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d35229895c4236"/>
    <p:sldLayoutId xmlns:r="http://schemas.openxmlformats.org/officeDocument/2006/relationships" id="2147483650" r:id="R868bbca63ca04da5"/>
    <p:sldLayoutId xmlns:r="http://schemas.openxmlformats.org/officeDocument/2006/relationships" id="2147483651" r:id="R9d8d8692316242e8"/>
    <p:sldLayoutId xmlns:r="http://schemas.openxmlformats.org/officeDocument/2006/relationships" id="2147483652" r:id="R01c03d80ceca4dae"/>
    <p:sldLayoutId xmlns:r="http://schemas.openxmlformats.org/officeDocument/2006/relationships" id="2147483653" r:id="Rbb01a0c08cf94192"/>
    <p:sldLayoutId xmlns:r="http://schemas.openxmlformats.org/officeDocument/2006/relationships" id="2147483654" r:id="R261d8faaadd54021"/>
    <p:sldLayoutId xmlns:r="http://schemas.openxmlformats.org/officeDocument/2006/relationships" id="2147483655" r:id="Rd56df3ec6f2d45b1"/>
    <p:sldLayoutId xmlns:r="http://schemas.openxmlformats.org/officeDocument/2006/relationships" id="2147483656" r:id="Rff9b6d83d0694b64"/>
    <p:sldLayoutId xmlns:r="http://schemas.openxmlformats.org/officeDocument/2006/relationships" id="2147483657" r:id="R01613df2cdbe4fb4"/>
    <p:sldLayoutId xmlns:r="http://schemas.openxmlformats.org/officeDocument/2006/relationships" id="2147483658" r:id="R39aca7d1eb8c497d"/>
    <p:sldLayoutId xmlns:r="http://schemas.openxmlformats.org/officeDocument/2006/relationships" id="2147483659" r:id="R16217e7dabd74a40"/>
  </p:sldLayoutIdLst>
  <p:hf hdr="0"/>
  <p:txStyles>
    <p:titleStyle>
      <a:lvl1pPr xmlns:a="http://schemas.openxmlformats.org/drawingml/2006/main" algn="l">
        <a:spcBef>
          <a:spcPct val="0"/>
        </a:spcBef>
        <a:spcAft>
          <a:spcPct val="0"/>
        </a:spcAft>
        <a:buNone/>
        <a:defRPr sz="3800">
          <a:solidFill>
            <a:schemeClr val="tx2"/>
          </a:solidFill>
          <a:latin typeface="+mj-lt"/>
          <a:ea typeface="+mj-lt"/>
          <a:cs typeface="+mj-lt"/>
        </a:defRPr>
      </a:lvl1pPr>
      <a:lvl2pPr xmlns:a="http://schemas.openxmlformats.org/drawingml/2006/main" algn="l">
        <a:spcBef>
          <a:spcPct val="0"/>
        </a:spcBef>
        <a:spcAft>
          <a:spcPct val="0"/>
        </a:spcAft>
        <a:buNone/>
        <a:defRPr sz="3800">
          <a:solidFill>
            <a:schemeClr val="tx2"/>
          </a:solidFill>
          <a:latin typeface="Verdana"/>
          <a:ea typeface="Verdana"/>
          <a:cs typeface="Verdana"/>
        </a:defRPr>
      </a:lvl2pPr>
      <a:lvl3pPr xmlns:a="http://schemas.openxmlformats.org/drawingml/2006/main" algn="l">
        <a:spcBef>
          <a:spcPct val="0"/>
        </a:spcBef>
        <a:spcAft>
          <a:spcPct val="0"/>
        </a:spcAft>
        <a:buNone/>
        <a:defRPr sz="3800">
          <a:solidFill>
            <a:schemeClr val="tx2"/>
          </a:solidFill>
          <a:latin typeface="Verdana"/>
          <a:ea typeface="Verdana"/>
          <a:cs typeface="Verdana"/>
        </a:defRPr>
      </a:lvl3pPr>
      <a:lvl4pPr xmlns:a="http://schemas.openxmlformats.org/drawingml/2006/main" algn="l">
        <a:spcBef>
          <a:spcPct val="0"/>
        </a:spcBef>
        <a:spcAft>
          <a:spcPct val="0"/>
        </a:spcAft>
        <a:buNone/>
        <a:defRPr sz="3800">
          <a:solidFill>
            <a:schemeClr val="tx2"/>
          </a:solidFill>
          <a:latin typeface="Verdana"/>
          <a:ea typeface="Verdana"/>
          <a:cs typeface="Verdana"/>
        </a:defRPr>
      </a:lvl4pPr>
      <a:lvl5pPr xmlns:a="http://schemas.openxmlformats.org/drawingml/2006/main" algn="l">
        <a:spcBef>
          <a:spcPct val="0"/>
        </a:spcBef>
        <a:spcAft>
          <a:spcPct val="0"/>
        </a:spcAft>
        <a:buNone/>
        <a:defRPr sz="3800">
          <a:solidFill>
            <a:schemeClr val="tx2"/>
          </a:solidFill>
          <a:latin typeface="Verdana"/>
          <a:ea typeface="Verdana"/>
          <a:cs typeface="Verdana"/>
        </a:defRPr>
      </a:lvl5pPr>
      <a:lvl6pPr xmlns:a="http://schemas.openxmlformats.org/drawingml/2006/main" marL="457200" algn="l">
        <a:spcBef>
          <a:spcPct val="0"/>
        </a:spcBef>
        <a:spcAft>
          <a:spcPct val="0"/>
        </a:spcAft>
        <a:buNone/>
        <a:defRPr sz="3800">
          <a:solidFill>
            <a:schemeClr val="tx2"/>
          </a:solidFill>
          <a:latin typeface="Verdana"/>
          <a:ea typeface="Verdana"/>
          <a:cs typeface="Verdana"/>
        </a:defRPr>
      </a:lvl6pPr>
      <a:lvl7pPr xmlns:a="http://schemas.openxmlformats.org/drawingml/2006/main" marL="914400" algn="l">
        <a:spcBef>
          <a:spcPct val="0"/>
        </a:spcBef>
        <a:spcAft>
          <a:spcPct val="0"/>
        </a:spcAft>
        <a:buNone/>
        <a:defRPr sz="3800">
          <a:solidFill>
            <a:schemeClr val="tx2"/>
          </a:solidFill>
          <a:latin typeface="Verdana"/>
          <a:ea typeface="Verdana"/>
          <a:cs typeface="Verdana"/>
        </a:defRPr>
      </a:lvl7pPr>
      <a:lvl8pPr xmlns:a="http://schemas.openxmlformats.org/drawingml/2006/main" marL="1371600" algn="l">
        <a:spcBef>
          <a:spcPct val="0"/>
        </a:spcBef>
        <a:spcAft>
          <a:spcPct val="0"/>
        </a:spcAft>
        <a:buNone/>
        <a:defRPr sz="3800">
          <a:solidFill>
            <a:schemeClr val="tx2"/>
          </a:solidFill>
          <a:latin typeface="Verdana"/>
          <a:ea typeface="Verdana"/>
          <a:cs typeface="Verdana"/>
        </a:defRPr>
      </a:lvl8pPr>
      <a:lvl9pPr xmlns:a="http://schemas.openxmlformats.org/drawingml/2006/main" marL="1828800" algn="l">
        <a:spcBef>
          <a:spcPct val="0"/>
        </a:spcBef>
        <a:spcAft>
          <a:spcPct val="0"/>
        </a:spcAft>
        <a:buNone/>
        <a:defRPr sz="3800">
          <a:solidFill>
            <a:schemeClr val="tx2"/>
          </a:solidFill>
          <a:latin typeface="Verdana"/>
          <a:ea typeface="Verdana"/>
          <a:cs typeface="Verdana"/>
        </a:defRPr>
      </a:lvl9pPr>
    </p:titleStyle>
    <p:bodyStyle>
      <a:lvl1pPr xmlns:a="http://schemas.openxmlformats.org/drawingml/2006/main" marL="469900" indent="-469900" algn="l">
        <a:spcBef>
          <a:spcPct val="20000"/>
        </a:spcBef>
        <a:spcAft>
          <a:spcPct val="0"/>
        </a:spcAft>
        <a:buClr>
          <a:schemeClr val="accent2"/>
        </a:buClr>
        <a:buFont typeface="Wingdings"/>
        <a:buChar char="o"/>
        <a:defRPr sz="30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908050" indent="-436563" algn="l">
        <a:spcBef>
          <a:spcPct val="20000"/>
        </a:spcBef>
        <a:spcAft>
          <a:spcPct val="0"/>
        </a:spcAft>
        <a:buClr>
          <a:schemeClr val="accent2"/>
        </a:buClr>
        <a:buFont typeface="Wingdings"/>
        <a:buChar char="n"/>
        <a:defRPr sz="26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304925" indent="-395288" algn="l">
        <a:spcBef>
          <a:spcPct val="20000"/>
        </a:spcBef>
        <a:spcAft>
          <a:spcPct val="0"/>
        </a:spcAft>
        <a:buClr>
          <a:schemeClr val="accent2"/>
        </a:buClr>
        <a:buFont typeface="Wingdings"/>
        <a:buChar char="o"/>
        <a:defRPr sz="23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93863" indent="-387350" algn="l">
        <a:spcBef>
          <a:spcPct val="20000"/>
        </a:spcBef>
        <a:spcAft>
          <a:spcPct val="0"/>
        </a:spcAft>
        <a:buClr>
          <a:schemeClr val="accent2"/>
        </a:buClr>
        <a:buFont typeface="Wingdings"/>
        <a:buChar char="n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93913" indent="-398463" algn="l">
        <a:spcBef>
          <a:spcPct val="25000"/>
        </a:spcBef>
        <a:spcAft>
          <a:spcPct val="0"/>
        </a:spcAft>
        <a:buClr>
          <a:schemeClr val="accent2"/>
        </a:buClr>
        <a:buFont typeface="Wingdings"/>
        <a:buChar char="§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51113" indent="-398463" algn="l">
        <a:spcBef>
          <a:spcPct val="25000"/>
        </a:spcBef>
        <a:spcAft>
          <a:spcPct val="0"/>
        </a:spcAft>
        <a:buClr>
          <a:schemeClr val="accent2"/>
        </a:buClr>
        <a:buFont typeface="Wingdings"/>
        <a:buChar char="§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008313" indent="-398463" algn="l">
        <a:spcBef>
          <a:spcPct val="25000"/>
        </a:spcBef>
        <a:spcAft>
          <a:spcPct val="0"/>
        </a:spcAft>
        <a:buClr>
          <a:schemeClr val="accent2"/>
        </a:buClr>
        <a:buFont typeface="Wingdings"/>
        <a:buChar char="§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65513" indent="-398463" algn="l">
        <a:spcBef>
          <a:spcPct val="25000"/>
        </a:spcBef>
        <a:spcAft>
          <a:spcPct val="0"/>
        </a:spcAft>
        <a:buClr>
          <a:schemeClr val="accent2"/>
        </a:buClr>
        <a:buFont typeface="Wingdings"/>
        <a:buChar char="§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922713" indent="-398463" algn="l">
        <a:spcBef>
          <a:spcPct val="25000"/>
        </a:spcBef>
        <a:spcAft>
          <a:spcPct val="0"/>
        </a:spcAft>
        <a:buClr>
          <a:schemeClr val="accent2"/>
        </a:buClr>
        <a:buFont typeface="Wingdings"/>
        <a:buChar char="§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Profile 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fe9f440ff34298" /><Relationship Type="http://schemas.openxmlformats.org/officeDocument/2006/relationships/image" Target="/ppt/media/image.png" Id="R371d36472c2e456e" /><Relationship Type="http://schemas.openxmlformats.org/officeDocument/2006/relationships/image" Target="/ppt/media/image2.png" Id="Rf910f1238df047fe" /><Relationship Type="http://schemas.openxmlformats.org/officeDocument/2006/relationships/image" Target="/ppt/media/image3.png" Id="R6a6c2c004c6d421d" /><Relationship Type="http://schemas.openxmlformats.org/officeDocument/2006/relationships/notesSlide" Target="/ppt/notesSlides/notesSlide1.xml" Id="Rc4bdc78e22c745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af2c39f2fe4cc3" /><Relationship Type="http://schemas.openxmlformats.org/officeDocument/2006/relationships/image" Target="/ppt/media/image.png" Id="Rf3b9460c780e4dbf" /><Relationship Type="http://schemas.openxmlformats.org/officeDocument/2006/relationships/notesSlide" Target="/ppt/notesSlides/notesSlide2.xml" Id="Rf1f78ffb05a744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f139dc5b9d4f7b" /><Relationship Type="http://schemas.openxmlformats.org/officeDocument/2006/relationships/notesSlide" Target="/ppt/notesSlides/notesSlide3.xml" Id="R1bd6f70b138b40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101a687e4544c9" /><Relationship Type="http://schemas.openxmlformats.org/officeDocument/2006/relationships/notesSlide" Target="/ppt/notesSlides/notesSlide4.xml" Id="Rf5e82778db5845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801871cc3248c1" /><Relationship Type="http://schemas.openxmlformats.org/officeDocument/2006/relationships/image" Target="/ppt/media/image.png" Id="R256a75ecb1834d07" /><Relationship Type="http://schemas.openxmlformats.org/officeDocument/2006/relationships/notesSlide" Target="/ppt/notesSlides/notesSlide5.xml" Id="R4a453aaa7bfe45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e4e8ed17b348e3" /><Relationship Type="http://schemas.openxmlformats.org/officeDocument/2006/relationships/image" Target="/ppt/media/image.png" Id="R44ddad686c5146b4" /><Relationship Type="http://schemas.openxmlformats.org/officeDocument/2006/relationships/notesSlide" Target="/ppt/notesSlides/notesSlide6.xml" Id="Rb0e5cb6974514f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cd255d20e842d1" /><Relationship Type="http://schemas.openxmlformats.org/officeDocument/2006/relationships/image" Target="/ppt/media/image.png" Id="R0edcb390b39f4a49" /><Relationship Type="http://schemas.openxmlformats.org/officeDocument/2006/relationships/notesSlide" Target="/ppt/notesSlides/notesSlide7.xml" Id="R64f60def77f6407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57b089f9604f2f" /><Relationship Type="http://schemas.openxmlformats.org/officeDocument/2006/relationships/image" Target="/ppt/media/image.png" Id="R3fa8b806533c4f0a" /><Relationship Type="http://schemas.openxmlformats.org/officeDocument/2006/relationships/notesSlide" Target="/ppt/notesSlides/notesSlide8.xml" Id="Ra45b5c5e6ba540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05f15f45c243e1" /><Relationship Type="http://schemas.openxmlformats.org/officeDocument/2006/relationships/image" Target="/ppt/media/image.png" Id="R4a5a8267d83041ff" /><Relationship Type="http://schemas.openxmlformats.org/officeDocument/2006/relationships/notesSlide" Target="/ppt/notesSlides/notesSlide9.xml" Id="R17553d0111a34f3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6f022ec3b644fc" /><Relationship Type="http://schemas.openxmlformats.org/officeDocument/2006/relationships/image" Target="/ppt/media/image.png" Id="Rf5d0f053e6464ffc" /><Relationship Type="http://schemas.openxmlformats.org/officeDocument/2006/relationships/notesSlide" Target="/ppt/notesSlides/notesSlide10.xml" Id="R444561b58a3847e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98651e2ce84a28" /><Relationship Type="http://schemas.openxmlformats.org/officeDocument/2006/relationships/image" Target="/ppt/media/image.png" Id="Ra68c0b593b5a433c" /><Relationship Type="http://schemas.openxmlformats.org/officeDocument/2006/relationships/notesSlide" Target="/ppt/notesSlides/notesSlide11.xml" Id="R050a72476adb481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7f803121444ed9" /><Relationship Type="http://schemas.openxmlformats.org/officeDocument/2006/relationships/image" Target="/ppt/media/image.png" Id="Rfdbdc2b4e9e541b5" /><Relationship Type="http://schemas.openxmlformats.org/officeDocument/2006/relationships/notesSlide" Target="/ppt/notesSlides/notesSlide12.xml" Id="Ra1ba20225ee0458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bf041bbd1e4522" /><Relationship Type="http://schemas.openxmlformats.org/officeDocument/2006/relationships/image" Target="/ppt/media/image.png" Id="R270786a2596f4d1a" /><Relationship Type="http://schemas.openxmlformats.org/officeDocument/2006/relationships/notesSlide" Target="/ppt/notesSlides/notesSlide13.xml" Id="Ra3f003401d044ee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a64101f5134c5d" /><Relationship Type="http://schemas.openxmlformats.org/officeDocument/2006/relationships/image" Target="/ppt/media/image.png" Id="R74e8b9c798074cb0" /><Relationship Type="http://schemas.openxmlformats.org/officeDocument/2006/relationships/notesSlide" Target="/ppt/notesSlides/notesSlide14.xml" Id="Rfa76e34bd924447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856cd0d49046a4" /><Relationship Type="http://schemas.openxmlformats.org/officeDocument/2006/relationships/image" Target="/ppt/media/image.png" Id="Rf10d891f939b424a" /><Relationship Type="http://schemas.openxmlformats.org/officeDocument/2006/relationships/notesSlide" Target="/ppt/notesSlides/notesSlide15.xml" Id="R25d71cba2143404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e69f7ab33d4d16" /><Relationship Type="http://schemas.openxmlformats.org/officeDocument/2006/relationships/image" Target="/ppt/media/image.png" Id="R93f4264393d94509" /><Relationship Type="http://schemas.openxmlformats.org/officeDocument/2006/relationships/notesSlide" Target="/ppt/notesSlides/notesSlide16.xml" Id="R3b66ad445ba642e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8c17ce1fec4277" /><Relationship Type="http://schemas.openxmlformats.org/officeDocument/2006/relationships/notesSlide" Target="/ppt/notesSlides/notesSlide17.xml" Id="R061f269e82c74373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0">
          <a:blip xmlns:r="http://schemas.openxmlformats.org/officeDocument/2006/relationships" r:embed="R371d36472c2e456e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10f1238df047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11491" y="64077"/>
            <a:ext cx="1000125" cy="1143000"/>
          </a:xfrm>
          <a:prstGeom xmlns:a="http://schemas.openxmlformats.org/drawingml/2006/main" prst="rect">
            <a:avLst/>
          </a:prstGeom>
        </p:spPr>
      </p:pic>
      <p:sp>
        <p:nvSpPr>
          <p:cNvPr id="9" name="Title 1">
            <a:extLst xmlns:a="http://schemas.openxmlformats.org/drawingml/2006/main">
              <a:ext uri="{FF2B5EF4-FFF2-40B4-BE49-F238E27FC236}">
                <a16:creationId xmlns:a16="http://schemas.microsoft.com/office/drawing/2014/main" id="{D41A2FBB-F55B-9BAA-4EBD-7D6AD7B1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712" y="2530618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92003" lnSpcReduction="20000"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 sz="4000" b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ProcureSight</a:t>
            </a:r>
          </a:p>
          <a:p xmlns:a="http://schemas.openxmlformats.org/drawingml/2006/main">
            <a:r>
              <a:rPr sz="4000" b="1">
                <a:solidFill>
                  <a:srgbClr val="7030A0"/>
                </a:solidFill>
                <a:latin typeface="Verdana"/>
                <a:ea typeface="Verdana"/>
                <a:cs typeface="Verdana"/>
              </a:rPr>
              <a:t>AI-Based Procurement Spend Analytics</a:t>
            </a:r>
          </a:p>
          <a:p xmlns:a="http://schemas.openxmlformats.org/drawingml/2006/main">
            <a:r>
              <a:rPr sz="4000" b="1">
                <a:solidFill>
                  <a:srgbClr val="7030A0"/>
                </a:solidFill>
                <a:latin typeface="Verdana"/>
                <a:ea typeface="Verdana"/>
                <a:cs typeface="Verdana"/>
              </a:rPr>
              <a:t>SDG 8 • SDG 9 • SDG 12</a:t>
            </a:r>
          </a:p>
        </p:txBody>
      </p:sp>
      <p:sp>
        <p:nvSpPr>
          <p:cNvPr id="10" name="TextBox 1">
            <a:extLst xmlns:a="http://schemas.openxmlformats.org/drawingml/2006/main">
              <a:ext uri="{FF2B5EF4-FFF2-40B4-BE49-F238E27FC236}">
                <a16:creationId xmlns:a16="http://schemas.microsoft.com/office/drawing/2014/main" id="{2D19DAE3-8F95-230C-D485-225341D0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889" y="5183902"/>
            <a:ext cx="3429000" cy="830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spAutoFit/>
          </a:bodyPr>
          <a:lstStyle xmlns:a="http://schemas.openxmlformats.org/drawingml/2006/main">
            <a:lvl1pPr>
              <a:spcBef>
                <a:spcPct val="20000"/>
              </a:spcBef>
              <a:buClr>
                <a:schemeClr val="accent2"/>
              </a:buClr>
              <a:buFont typeface="Wingdings"/>
              <a:buChar char="o"/>
              <a:defRPr sz="3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/>
              <a:buChar char="n"/>
              <a:defRPr sz="26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/>
              <a:buChar char="o"/>
              <a:defRPr sz="23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/>
              <a:buChar char="n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5pPr>
            <a:lvl6pPr marL="25146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6pPr>
            <a:lvl7pPr marL="29718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7pPr>
            <a:lvl8pPr marL="34290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8pPr>
            <a:lvl9pPr marL="38862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>
              <a:spcBef>
                <a:spcPct val="0"/>
              </a:spcBef>
              <a:buClrTx/>
              <a:buFontTx/>
              <a:buNone/>
            </a:pPr>
            <a:r>
              <a:rPr sz="2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Supervisor: &lt;NAME, DESIGNATION&gt;</a:t>
            </a:r>
          </a:p>
        </p:txBody>
      </p:sp>
      <p:sp>
        <p:nvSpPr>
          <p:cNvPr id="11" name="TextBox 1">
            <a:extLst xmlns:a="http://schemas.openxmlformats.org/drawingml/2006/main">
              <a:ext uri="{FF2B5EF4-FFF2-40B4-BE49-F238E27FC236}">
                <a16:creationId xmlns:a16="http://schemas.microsoft.com/office/drawing/2014/main" id="{19A39F01-D00C-AF01-020F-6FE15F5B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112" y="5183902"/>
            <a:ext cx="3505200" cy="830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spAutoFit/>
          </a:bodyPr>
          <a:lstStyle xmlns:a="http://schemas.openxmlformats.org/drawingml/2006/main">
            <a:lvl1pPr>
              <a:spcBef>
                <a:spcPct val="20000"/>
              </a:spcBef>
              <a:buClr>
                <a:schemeClr val="accent2"/>
              </a:buClr>
              <a:buFont typeface="Wingdings"/>
              <a:buChar char="o"/>
              <a:defRPr sz="3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/>
              <a:buChar char="n"/>
              <a:defRPr sz="26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/>
              <a:buChar char="o"/>
              <a:defRPr sz="23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/>
              <a:buChar char="n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5pPr>
            <a:lvl6pPr marL="25146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6pPr>
            <a:lvl7pPr marL="29718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7pPr>
            <a:lvl8pPr marL="34290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8pPr>
            <a:lvl9pPr marL="38862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>
              <a:spcBef>
                <a:spcPct val="0"/>
              </a:spcBef>
              <a:buClrTx/>
              <a:buFontTx/>
              <a:buNone/>
            </a:pPr>
            <a:r>
              <a:rPr sz="2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Student: Anirudh | Roll No.: &lt;ROLL NO.&gt;</a:t>
            </a:r>
          </a:p>
        </p:txBody>
      </p:sp>
      <p:sp>
        <p:nvSpPr>
          <p:cNvPr id="15" name="Title 1">
            <a:extLst xmlns:a="http://schemas.openxmlformats.org/drawingml/2006/main">
              <a:ext uri="{FF2B5EF4-FFF2-40B4-BE49-F238E27FC236}">
                <a16:creationId xmlns:a16="http://schemas.microsoft.com/office/drawing/2014/main" id="{321851EC-AC90-1CBE-0738-0329685A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891" y="1213137"/>
            <a:ext cx="10515600" cy="72245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92500"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 sz="28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DEPARTMENT OF COMPUTER SCIENCE AND ENGINEERING</a:t>
            </a:r>
          </a:p>
        </p:txBody>
      </p:sp>
      <p:pic>
        <p:nvPicPr>
          <p:cNvPr id="2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6c2c004c6d421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4077"/>
            <a:ext cx="3756758" cy="121352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139276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0">
          <a:blip xmlns:r="http://schemas.openxmlformats.org/officeDocument/2006/relationships" r:embed="Rf3b9460c780e4dbf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INTRODUCTION</a:t>
            </a:r>
            <a:endParaRPr sz="28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" indent="-12">
              <a:buChar char="•"/>
            </a:pPr>
            <a:r>
              <a:t>Procurement decisions depend on a clear view of spend, suppliers, contracts, quality and delivery.</a:t>
            </a:r>
          </a:p>
          <a:p xmlns:a="http://schemas.openxmlformats.org/drawingml/2006/main">
            <a:pPr marL="22" indent="-12">
              <a:buChar char="•"/>
            </a:pPr>
            <a:r>
              <a:t>Fragmented exports make analysis slow, inconsistent and difficult to audit.</a:t>
            </a:r>
          </a:p>
          <a:p xmlns:a="http://schemas.openxmlformats.org/drawingml/2006/main">
            <a:pPr marL="22" indent="-12">
              <a:buChar char="•"/>
            </a:pPr>
            <a:r>
              <a:t>ProcureSight unifies procurement data, calculates explainable cost opportunities and uses AI only to communicate verified findings.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Review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Department of Computer Science and Engineering</a:t>
            </a: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8386993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D7DC03-923D-4213-930D-3AF1F5ADA6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PROJECT OVERVIEW &amp; OBJECTIVES/SCOPE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F99CBC8-2C97-4FF2-93D4-4BBC39ECF6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Review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4C35582-96D8-4CC6-BCC2-7D4D0C1877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E0E3463-C83A-463B-8998-212AA352DC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202359C0-8A7A-196E-DD58-8E6569619F09}" type="slidenum">
              <a:t>3</a:t>
            </a:fld>
            <a:endParaRPr/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5E2B662-9786-4797-88B4-C9BC1152E5A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60367" y="1600000"/>
            <a:ext cx="10271266" cy="26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22" indent="-12">
              <a:buChar char="•"/>
            </a:pPr>
            <a:r>
              <a:t>Goal: deliver a procurement analytics and cost-opportunity platform.</a:t>
            </a:r>
          </a:p>
          <a:p xmlns:a="http://schemas.openxmlformats.org/drawingml/2006/main">
            <a:pPr marL="22" indent="-12">
              <a:buChar char="•"/>
            </a:pPr>
            <a:r>
              <a:t>Objectives: validated ingestion, spend and supplier KPIs, price benchmarks and explainable opportunities.</a:t>
            </a:r>
          </a:p>
          <a:p xmlns:a="http://schemas.openxmlformats.org/drawingml/2006/main">
            <a:pPr marL="22" indent="-12">
              <a:buChar char="•"/>
            </a:pPr>
            <a:r>
              <a:t>Scope: PostgreSQL, FastAPI, React and guarded AI recommendations.</a:t>
            </a:r>
          </a:p>
          <a:p xmlns:a="http://schemas.openxmlformats.org/drawingml/2006/main">
            <a:pPr marL="22" indent="-12">
              <a:buChar char="•"/>
            </a:pPr>
            <a:r>
              <a:t>Excludes: forecasting, anomaly detection, external prices and autonomous purchasing.</a:t>
            </a:r>
          </a:p>
        </p:txBody>
      </p:sp>
    </p:spTree>
    <p:extLst>
      <p:ext uri="{BB962C8B-B14F-4D97-AF65-F5344CB8AC3E}">
        <p14:creationId xmlns:p14="http://schemas.microsoft.com/office/powerpoint/2010/main" val="174486621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EXISTING SYSTEM</a:t>
            </a:r>
            <a:endParaRPr sz="32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" indent="-12">
              <a:buChar char="•"/>
            </a:pPr>
            <a:r>
              <a:t>ERP exports and spreadsheets provide fragmented or retrospective procurement views.</a:t>
            </a:r>
          </a:p>
          <a:p xmlns:a="http://schemas.openxmlformats.org/drawingml/2006/main">
            <a:pPr marL="22" indent="-12">
              <a:buChar char="•"/>
            </a:pPr>
            <a:r>
              <a:t>Commercial suites can be costly and opaque for academic evaluation.</a:t>
            </a:r>
          </a:p>
          <a:p xmlns:a="http://schemas.openxmlformats.org/drawingml/2006/main">
            <a:pPr marL="22" indent="-12">
              <a:buChar char="•"/>
            </a:pPr>
            <a:r>
              <a:t>Manual analysis struggles to connect price, contract, quality and delivery signals.</a:t>
            </a:r>
          </a:p>
          <a:p xmlns:a="http://schemas.openxmlformats.org/drawingml/2006/main">
            <a:pPr marL="22" indent="-12">
              <a:buChar char="•"/>
            </a:pPr>
            <a:r>
              <a:t>Static dashboards show totals but rarely explain how cost opportunities were derived.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Review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Department of Computer Science and Engineering</a:t>
            </a: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3003254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0">
          <a:blip xmlns:r="http://schemas.openxmlformats.org/officeDocument/2006/relationships" r:embed="R256a75ecb1834d07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PROBLEM STATEMENT </a:t>
            </a:r>
            <a:endParaRPr sz="28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" indent="-12">
              <a:buChar char="•"/>
            </a:pPr>
            <a:r>
              <a:t>Procurement teams lack one auditable view of price variance, contract leakage, concentration and operational risk.</a:t>
            </a:r>
          </a:p>
          <a:p xmlns:a="http://schemas.openxmlformats.org/drawingml/2006/main">
            <a:pPr marL="22" indent="-12">
              <a:buChar char="•"/>
            </a:pPr>
            <a:r>
              <a:t>Spreadsheet reviews are slow and inconsistent; conventional dashboards show totals without explaining or prioritizing opportunities.</a:t>
            </a:r>
          </a:p>
          <a:p xmlns:a="http://schemas.openxmlformats.org/drawingml/2006/main">
            <a:pPr marL="22" indent="-12">
              <a:buChar char="•"/>
            </a:pPr>
            <a:r>
              <a:t>AI advice is unsafe unless it is grounded in verified calculations and human review.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Review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Department of Computer Science and Engineering</a:t>
            </a: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1548109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0">
          <a:blip xmlns:r="http://schemas.openxmlformats.org/officeDocument/2006/relationships" r:embed="R44ddad686c5146b4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METHODOLOGY &amp; SYSTEM ARCHITECTURE</a:t>
            </a:r>
            <a:endParaRPr sz="28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Review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Department of Computer Science and Engineering</a:t>
            </a: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  <p:sp>
        <p:nvSpPr>
          <p:cNvPr id="7" name="method-label">
            <a:extLst xmlns:a="http://schemas.openxmlformats.org/drawingml/2006/main">
              <a:ext uri="{FF2B5EF4-FFF2-40B4-BE49-F238E27FC236}">
                <a16:creationId xmlns:a16="http://schemas.microsoft.com/office/drawing/2014/main" id="{0311DC54-C302-4240-B06E-1F9A03A5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71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C0000"/>
                </a:solidFill>
                <a:latin typeface="Verdana"/>
                <a:ea typeface="Verdana"/>
                <a:cs typeface="Verdana"/>
              </a:defRPr>
            </a:pPr>
            <a:r>
              <a:rPr sz="1125" b="1">
                <a:solidFill>
                  <a:srgbClr val="CC0000"/>
                </a:solidFill>
                <a:latin typeface="Verdana"/>
                <a:ea typeface="Verdana"/>
                <a:cs typeface="Verdana"/>
              </a:rPr>
              <a:t>METHODOLOGY</a:t>
            </a:r>
          </a:p>
        </p:txBody>
      </p:sp>
      <p:sp>
        <p:nvSpPr>
          <p:cNvPr id="8" name="method-caption">
            <a:extLst xmlns:a="http://schemas.openxmlformats.org/drawingml/2006/main">
              <a:ext uri="{FF2B5EF4-FFF2-40B4-BE49-F238E27FC236}">
                <a16:creationId xmlns:a16="http://schemas.microsoft.com/office/drawing/2014/main" id="{16DF986A-C0FD-49A9-8D21-2283ABB4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716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06D"/>
                </a:solidFill>
                <a:latin typeface="Verdana"/>
                <a:ea typeface="Verdana"/>
                <a:cs typeface="Verdana"/>
              </a:defRPr>
            </a:pPr>
            <a:r>
              <a:rPr sz="1050">
                <a:solidFill>
                  <a:srgbClr val="52606D"/>
                </a:solidFill>
                <a:latin typeface="Verdana"/>
                <a:ea typeface="Verdana"/>
                <a:cs typeface="Verdana"/>
              </a:rPr>
              <a:t>A traceable pipeline from raw records to procurement action</a:t>
            </a:r>
          </a:p>
        </p:txBody>
      </p:sp>
      <p:sp>
        <p:nvSpPr>
          <p:cNvPr id="9" name="method-edge-1">
            <a:extLst xmlns:a="http://schemas.openxmlformats.org/drawingml/2006/main">
              <a:ext uri="{FF2B5EF4-FFF2-40B4-BE49-F238E27FC236}">
                <a16:creationId xmlns:a16="http://schemas.microsoft.com/office/drawing/2014/main" id="{AF270023-D9F9-4CBF-B454-9BBB75B0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86000"/>
            <a:ext cx="3429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3B2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thod-edge-2">
            <a:extLst xmlns:a="http://schemas.openxmlformats.org/drawingml/2006/main">
              <a:ext uri="{FF2B5EF4-FFF2-40B4-BE49-F238E27FC236}">
                <a16:creationId xmlns:a16="http://schemas.microsoft.com/office/drawing/2014/main" id="{F1C1BE2D-92C8-4A9E-801D-29FE8880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86000"/>
            <a:ext cx="3429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3B2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ethod-edge-3">
            <a:extLst xmlns:a="http://schemas.openxmlformats.org/drawingml/2006/main">
              <a:ext uri="{FF2B5EF4-FFF2-40B4-BE49-F238E27FC236}">
                <a16:creationId xmlns:a16="http://schemas.microsoft.com/office/drawing/2014/main" id="{5A0D2E6E-4257-4D7B-BD1A-9B696227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86000"/>
            <a:ext cx="3429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3B2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ethod-edge-4">
            <a:extLst xmlns:a="http://schemas.openxmlformats.org/drawingml/2006/main">
              <a:ext uri="{FF2B5EF4-FFF2-40B4-BE49-F238E27FC236}">
                <a16:creationId xmlns:a16="http://schemas.microsoft.com/office/drawing/2014/main" id="{6574D5E0-E87A-44BB-A1FE-27A8E858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86000"/>
            <a:ext cx="3429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3B2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thod-edge-5">
            <a:extLst xmlns:a="http://schemas.openxmlformats.org/drawingml/2006/main">
              <a:ext uri="{FF2B5EF4-FFF2-40B4-BE49-F238E27FC236}">
                <a16:creationId xmlns:a16="http://schemas.microsoft.com/office/drawing/2014/main" id="{78848DF2-E6B4-4FB3-9077-82DD2445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86000"/>
            <a:ext cx="3429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3B2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ethod-step-01">
            <a:extLst xmlns:a="http://schemas.openxmlformats.org/drawingml/2006/main">
              <a:ext uri="{FF2B5EF4-FFF2-40B4-BE49-F238E27FC236}">
                <a16:creationId xmlns:a16="http://schemas.microsoft.com/office/drawing/2014/main" id="{39BFF3D1-B66E-4C8D-A8CF-BB445A14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C000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C0000"/>
                </a:solidFill>
                <a:latin typeface="Verdana"/>
                <a:ea typeface="Verdana"/>
                <a:cs typeface="Verdana"/>
              </a:defRPr>
            </a:pPr>
            <a:r>
              <a:rPr sz="1125" b="1">
                <a:solidFill>
                  <a:srgbClr val="CC0000"/>
                </a:solidFill>
                <a:latin typeface="Verdana"/>
                <a:ea typeface="Verdana"/>
                <a:cs typeface="Verdana"/>
              </a:rPr>
              <a:t>01</a:t>
            </a:r>
          </a:p>
        </p:txBody>
      </p:sp>
      <p:sp>
        <p:nvSpPr>
          <p:cNvPr id="15" name="method-title-01">
            <a:extLst xmlns:a="http://schemas.openxmlformats.org/drawingml/2006/main">
              <a:ext uri="{FF2B5EF4-FFF2-40B4-BE49-F238E27FC236}">
                <a16:creationId xmlns:a16="http://schemas.microsoft.com/office/drawing/2014/main" id="{3CC648FA-7265-48BC-8603-1128FB7E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240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163" b="1">
                <a:solidFill>
                  <a:srgbClr val="1F2937"/>
                </a:solidFill>
                <a:latin typeface="Verdana"/>
                <a:ea typeface="Verdana"/>
                <a:cs typeface="Verdana"/>
              </a:defRPr>
            </a:pPr>
            <a:r>
              <a:rPr sz="1163" b="1">
                <a:solidFill>
                  <a:srgbClr val="1F2937"/>
                </a:solidFill>
                <a:latin typeface="Verdana"/>
                <a:ea typeface="Verdana"/>
                <a:cs typeface="Verdana"/>
              </a:rPr>
              <a:t>VALIDATE</a:t>
            </a:r>
          </a:p>
        </p:txBody>
      </p:sp>
      <p:sp>
        <p:nvSpPr>
          <p:cNvPr id="16" name="method-detail-01">
            <a:extLst xmlns:a="http://schemas.openxmlformats.org/drawingml/2006/main">
              <a:ext uri="{FF2B5EF4-FFF2-40B4-BE49-F238E27FC236}">
                <a16:creationId xmlns:a16="http://schemas.microsoft.com/office/drawing/2014/main" id="{25DD163C-0B14-443D-8E72-2FAD22B6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336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52606D"/>
                </a:solidFill>
                <a:latin typeface="Verdana"/>
                <a:ea typeface="Verdana"/>
                <a:cs typeface="Verdana"/>
              </a:defRPr>
            </a:pPr>
            <a:r>
              <a:rPr sz="1013">
                <a:solidFill>
                  <a:srgbClr val="52606D"/>
                </a:solidFill>
                <a:latin typeface="Verdana"/>
                <a:ea typeface="Verdana"/>
                <a:cs typeface="Verdana"/>
              </a:rPr>
              <a:t>Schema + totals</a:t>
            </a:r>
          </a:p>
        </p:txBody>
      </p:sp>
      <p:sp>
        <p:nvSpPr>
          <p:cNvPr id="17" name="method-step-02">
            <a:extLst xmlns:a="http://schemas.openxmlformats.org/drawingml/2006/main">
              <a:ext uri="{FF2B5EF4-FFF2-40B4-BE49-F238E27FC236}">
                <a16:creationId xmlns:a16="http://schemas.microsoft.com/office/drawing/2014/main" id="{9922C3A8-E857-48A3-A3E2-93CFE851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14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C000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C0000"/>
                </a:solidFill>
                <a:latin typeface="Verdana"/>
                <a:ea typeface="Verdana"/>
                <a:cs typeface="Verdana"/>
              </a:defRPr>
            </a:pPr>
            <a:r>
              <a:rPr sz="1125" b="1">
                <a:solidFill>
                  <a:srgbClr val="CC0000"/>
                </a:solidFill>
                <a:latin typeface="Verdana"/>
                <a:ea typeface="Verdana"/>
                <a:cs typeface="Verdana"/>
              </a:rPr>
              <a:t>02</a:t>
            </a:r>
          </a:p>
        </p:txBody>
      </p:sp>
      <p:sp>
        <p:nvSpPr>
          <p:cNvPr id="18" name="method-title-02">
            <a:extLst xmlns:a="http://schemas.openxmlformats.org/drawingml/2006/main">
              <a:ext uri="{FF2B5EF4-FFF2-40B4-BE49-F238E27FC236}">
                <a16:creationId xmlns:a16="http://schemas.microsoft.com/office/drawing/2014/main" id="{9D0232AD-57BF-4C0A-85CF-13955232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240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163" b="1">
                <a:solidFill>
                  <a:srgbClr val="1F2937"/>
                </a:solidFill>
                <a:latin typeface="Verdana"/>
                <a:ea typeface="Verdana"/>
                <a:cs typeface="Verdana"/>
              </a:defRPr>
            </a:pPr>
            <a:r>
              <a:rPr sz="1163" b="1">
                <a:solidFill>
                  <a:srgbClr val="1F2937"/>
                </a:solidFill>
                <a:latin typeface="Verdana"/>
                <a:ea typeface="Verdana"/>
                <a:cs typeface="Verdana"/>
              </a:rPr>
              <a:t>NORMALIZE</a:t>
            </a:r>
          </a:p>
        </p:txBody>
      </p:sp>
      <p:sp>
        <p:nvSpPr>
          <p:cNvPr id="19" name="method-detail-02">
            <a:extLst xmlns:a="http://schemas.openxmlformats.org/drawingml/2006/main">
              <a:ext uri="{FF2B5EF4-FFF2-40B4-BE49-F238E27FC236}">
                <a16:creationId xmlns:a16="http://schemas.microsoft.com/office/drawing/2014/main" id="{6A89F120-C8C2-4487-8094-D47FEBE3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3336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52606D"/>
                </a:solidFill>
                <a:latin typeface="Verdana"/>
                <a:ea typeface="Verdana"/>
                <a:cs typeface="Verdana"/>
              </a:defRPr>
            </a:pPr>
            <a:r>
              <a:rPr sz="1013">
                <a:solidFill>
                  <a:srgbClr val="52606D"/>
                </a:solidFill>
                <a:latin typeface="Verdana"/>
                <a:ea typeface="Verdana"/>
                <a:cs typeface="Verdana"/>
              </a:rPr>
              <a:t>Clean dimensions</a:t>
            </a:r>
          </a:p>
        </p:txBody>
      </p:sp>
      <p:sp>
        <p:nvSpPr>
          <p:cNvPr id="20" name="method-step-03">
            <a:extLst xmlns:a="http://schemas.openxmlformats.org/drawingml/2006/main">
              <a:ext uri="{FF2B5EF4-FFF2-40B4-BE49-F238E27FC236}">
                <a16:creationId xmlns:a16="http://schemas.microsoft.com/office/drawing/2014/main" id="{78C33BB8-BD0E-46CC-A9AB-87CBEC2B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14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C000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C0000"/>
                </a:solidFill>
                <a:latin typeface="Verdana"/>
                <a:ea typeface="Verdana"/>
                <a:cs typeface="Verdana"/>
              </a:defRPr>
            </a:pPr>
            <a:r>
              <a:rPr sz="1125" b="1">
                <a:solidFill>
                  <a:srgbClr val="CC0000"/>
                </a:solidFill>
                <a:latin typeface="Verdana"/>
                <a:ea typeface="Verdana"/>
                <a:cs typeface="Verdana"/>
              </a:rPr>
              <a:t>03</a:t>
            </a:r>
          </a:p>
        </p:txBody>
      </p:sp>
      <p:sp>
        <p:nvSpPr>
          <p:cNvPr id="21" name="method-title-03">
            <a:extLst xmlns:a="http://schemas.openxmlformats.org/drawingml/2006/main">
              <a:ext uri="{FF2B5EF4-FFF2-40B4-BE49-F238E27FC236}">
                <a16:creationId xmlns:a16="http://schemas.microsoft.com/office/drawing/2014/main" id="{7D9AE2A3-910F-4ED0-A143-83BBE5C1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240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163" b="1">
                <a:solidFill>
                  <a:srgbClr val="1F2937"/>
                </a:solidFill>
                <a:latin typeface="Verdana"/>
                <a:ea typeface="Verdana"/>
                <a:cs typeface="Verdana"/>
              </a:defRPr>
            </a:pPr>
            <a:r>
              <a:rPr sz="1163" b="1">
                <a:solidFill>
                  <a:srgbClr val="1F2937"/>
                </a:solidFill>
                <a:latin typeface="Verdana"/>
                <a:ea typeface="Verdana"/>
                <a:cs typeface="Verdana"/>
              </a:rPr>
              <a:t>AGGREGATE</a:t>
            </a:r>
          </a:p>
        </p:txBody>
      </p:sp>
      <p:sp>
        <p:nvSpPr>
          <p:cNvPr id="22" name="method-detail-03">
            <a:extLst xmlns:a="http://schemas.openxmlformats.org/drawingml/2006/main">
              <a:ext uri="{FF2B5EF4-FFF2-40B4-BE49-F238E27FC236}">
                <a16:creationId xmlns:a16="http://schemas.microsoft.com/office/drawing/2014/main" id="{6886CA70-7168-45BE-9EB7-9E8BC238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336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52606D"/>
                </a:solidFill>
                <a:latin typeface="Verdana"/>
                <a:ea typeface="Verdana"/>
                <a:cs typeface="Verdana"/>
              </a:defRPr>
            </a:pPr>
            <a:r>
              <a:rPr sz="1013">
                <a:solidFill>
                  <a:srgbClr val="52606D"/>
                </a:solidFill>
                <a:latin typeface="Verdana"/>
                <a:ea typeface="Verdana"/>
                <a:cs typeface="Verdana"/>
              </a:rPr>
              <a:t>Spend + performance</a:t>
            </a:r>
          </a:p>
        </p:txBody>
      </p:sp>
      <p:sp>
        <p:nvSpPr>
          <p:cNvPr id="23" name="method-step-04">
            <a:extLst xmlns:a="http://schemas.openxmlformats.org/drawingml/2006/main">
              <a:ext uri="{FF2B5EF4-FFF2-40B4-BE49-F238E27FC236}">
                <a16:creationId xmlns:a16="http://schemas.microsoft.com/office/drawing/2014/main" id="{AF820B93-C039-4765-8BCD-702D4A5E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14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C000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C0000"/>
                </a:solidFill>
                <a:latin typeface="Verdana"/>
                <a:ea typeface="Verdana"/>
                <a:cs typeface="Verdana"/>
              </a:defRPr>
            </a:pPr>
            <a:r>
              <a:rPr sz="1125" b="1">
                <a:solidFill>
                  <a:srgbClr val="CC0000"/>
                </a:solidFill>
                <a:latin typeface="Verdana"/>
                <a:ea typeface="Verdana"/>
                <a:cs typeface="Verdana"/>
              </a:rPr>
              <a:t>04</a:t>
            </a:r>
          </a:p>
        </p:txBody>
      </p:sp>
      <p:sp>
        <p:nvSpPr>
          <p:cNvPr id="24" name="method-title-04">
            <a:extLst xmlns:a="http://schemas.openxmlformats.org/drawingml/2006/main">
              <a:ext uri="{FF2B5EF4-FFF2-40B4-BE49-F238E27FC236}">
                <a16:creationId xmlns:a16="http://schemas.microsoft.com/office/drawing/2014/main" id="{1DC98961-E917-4A0C-8969-3C667DD0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240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163" b="1">
                <a:solidFill>
                  <a:srgbClr val="1F2937"/>
                </a:solidFill>
                <a:latin typeface="Verdana"/>
                <a:ea typeface="Verdana"/>
                <a:cs typeface="Verdana"/>
              </a:defRPr>
            </a:pPr>
            <a:r>
              <a:rPr sz="1163" b="1">
                <a:solidFill>
                  <a:srgbClr val="1F2937"/>
                </a:solidFill>
                <a:latin typeface="Verdana"/>
                <a:ea typeface="Verdana"/>
                <a:cs typeface="Verdana"/>
              </a:rPr>
              <a:t>BENCHMARK</a:t>
            </a:r>
          </a:p>
        </p:txBody>
      </p:sp>
      <p:sp>
        <p:nvSpPr>
          <p:cNvPr id="25" name="method-detail-04">
            <a:extLst xmlns:a="http://schemas.openxmlformats.org/drawingml/2006/main">
              <a:ext uri="{FF2B5EF4-FFF2-40B4-BE49-F238E27FC236}">
                <a16:creationId xmlns:a16="http://schemas.microsoft.com/office/drawing/2014/main" id="{A4BC2E64-0B72-4DD9-8A08-5923995A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336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52606D"/>
                </a:solidFill>
                <a:latin typeface="Verdana"/>
                <a:ea typeface="Verdana"/>
                <a:cs typeface="Verdana"/>
              </a:defRPr>
            </a:pPr>
            <a:r>
              <a:rPr sz="1013">
                <a:solidFill>
                  <a:srgbClr val="52606D"/>
                </a:solidFill>
                <a:latin typeface="Verdana"/>
                <a:ea typeface="Verdana"/>
                <a:cs typeface="Verdana"/>
              </a:rPr>
              <a:t>Comparable prices</a:t>
            </a:r>
          </a:p>
        </p:txBody>
      </p:sp>
      <p:sp>
        <p:nvSpPr>
          <p:cNvPr id="26" name="method-step-05">
            <a:extLst xmlns:a="http://schemas.openxmlformats.org/drawingml/2006/main">
              <a:ext uri="{FF2B5EF4-FFF2-40B4-BE49-F238E27FC236}">
                <a16:creationId xmlns:a16="http://schemas.microsoft.com/office/drawing/2014/main" id="{B14F1178-32DC-402B-84F9-174A1A2F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14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C000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C0000"/>
                </a:solidFill>
                <a:latin typeface="Verdana"/>
                <a:ea typeface="Verdana"/>
                <a:cs typeface="Verdana"/>
              </a:defRPr>
            </a:pPr>
            <a:r>
              <a:rPr sz="1125" b="1">
                <a:solidFill>
                  <a:srgbClr val="CC0000"/>
                </a:solidFill>
                <a:latin typeface="Verdana"/>
                <a:ea typeface="Verdana"/>
                <a:cs typeface="Verdana"/>
              </a:rPr>
              <a:t>05</a:t>
            </a:r>
          </a:p>
        </p:txBody>
      </p:sp>
      <p:sp>
        <p:nvSpPr>
          <p:cNvPr id="27" name="method-title-05">
            <a:extLst xmlns:a="http://schemas.openxmlformats.org/drawingml/2006/main">
              <a:ext uri="{FF2B5EF4-FFF2-40B4-BE49-F238E27FC236}">
                <a16:creationId xmlns:a16="http://schemas.microsoft.com/office/drawing/2014/main" id="{947A1A43-0B5F-4B37-ACA5-01ED3447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240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163" b="1">
                <a:solidFill>
                  <a:srgbClr val="1F2937"/>
                </a:solidFill>
                <a:latin typeface="Verdana"/>
                <a:ea typeface="Verdana"/>
                <a:cs typeface="Verdana"/>
              </a:defRPr>
            </a:pPr>
            <a:r>
              <a:rPr sz="1163" b="1">
                <a:solidFill>
                  <a:srgbClr val="1F2937"/>
                </a:solidFill>
                <a:latin typeface="Verdana"/>
                <a:ea typeface="Verdana"/>
                <a:cs typeface="Verdana"/>
              </a:rPr>
              <a:t>PRIORITIZE</a:t>
            </a:r>
          </a:p>
        </p:txBody>
      </p:sp>
      <p:sp>
        <p:nvSpPr>
          <p:cNvPr id="28" name="method-detail-05">
            <a:extLst xmlns:a="http://schemas.openxmlformats.org/drawingml/2006/main">
              <a:ext uri="{FF2B5EF4-FFF2-40B4-BE49-F238E27FC236}">
                <a16:creationId xmlns:a16="http://schemas.microsoft.com/office/drawing/2014/main" id="{08C963E1-7080-4781-9D43-3016525D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336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52606D"/>
                </a:solidFill>
                <a:latin typeface="Verdana"/>
                <a:ea typeface="Verdana"/>
                <a:cs typeface="Verdana"/>
              </a:defRPr>
            </a:pPr>
            <a:r>
              <a:rPr sz="1013">
                <a:solidFill>
                  <a:srgbClr val="52606D"/>
                </a:solidFill>
                <a:latin typeface="Verdana"/>
                <a:ea typeface="Verdana"/>
                <a:cs typeface="Verdana"/>
              </a:rPr>
              <a:t>Rank opportunities</a:t>
            </a:r>
          </a:p>
        </p:txBody>
      </p:sp>
      <p:sp>
        <p:nvSpPr>
          <p:cNvPr id="29" name="method-step-06">
            <a:extLst xmlns:a="http://schemas.openxmlformats.org/drawingml/2006/main">
              <a:ext uri="{FF2B5EF4-FFF2-40B4-BE49-F238E27FC236}">
                <a16:creationId xmlns:a16="http://schemas.microsoft.com/office/drawing/2014/main" id="{0CE61B5D-B453-451F-9302-4CEAEFAB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114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0000"/>
          </a:solidFill>
          <a:ln xmlns:a="http://schemas.openxmlformats.org/drawingml/2006/main" w="19050">
            <a:solidFill>
              <a:srgbClr val="CC000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125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06</a:t>
            </a:r>
          </a:p>
        </p:txBody>
      </p:sp>
      <p:sp>
        <p:nvSpPr>
          <p:cNvPr id="30" name="method-title-06">
            <a:extLst xmlns:a="http://schemas.openxmlformats.org/drawingml/2006/main">
              <a:ext uri="{FF2B5EF4-FFF2-40B4-BE49-F238E27FC236}">
                <a16:creationId xmlns:a16="http://schemas.microsoft.com/office/drawing/2014/main" id="{0BC45998-0431-4316-A82B-47C54821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1240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163" b="1">
                <a:solidFill>
                  <a:srgbClr val="1F2937"/>
                </a:solidFill>
                <a:latin typeface="Verdana"/>
                <a:ea typeface="Verdana"/>
                <a:cs typeface="Verdana"/>
              </a:defRPr>
            </a:pPr>
            <a:r>
              <a:rPr sz="1163" b="1">
                <a:solidFill>
                  <a:srgbClr val="1F2937"/>
                </a:solidFill>
                <a:latin typeface="Verdana"/>
                <a:ea typeface="Verdana"/>
                <a:cs typeface="Verdana"/>
              </a:rPr>
              <a:t>EXPLAIN</a:t>
            </a:r>
          </a:p>
        </p:txBody>
      </p:sp>
      <p:sp>
        <p:nvSpPr>
          <p:cNvPr id="31" name="method-detail-06">
            <a:extLst xmlns:a="http://schemas.openxmlformats.org/drawingml/2006/main">
              <a:ext uri="{FF2B5EF4-FFF2-40B4-BE49-F238E27FC236}">
                <a16:creationId xmlns:a16="http://schemas.microsoft.com/office/drawing/2014/main" id="{9AD50526-F9D5-40C3-B4F1-2800EABF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3336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52606D"/>
                </a:solidFill>
                <a:latin typeface="Verdana"/>
                <a:ea typeface="Verdana"/>
                <a:cs typeface="Verdana"/>
              </a:defRPr>
            </a:pPr>
            <a:r>
              <a:rPr sz="1013">
                <a:solidFill>
                  <a:srgbClr val="52606D"/>
                </a:solidFill>
                <a:latin typeface="Verdana"/>
                <a:ea typeface="Verdana"/>
                <a:cs typeface="Verdana"/>
              </a:rPr>
              <a:t>Verified narrative</a:t>
            </a:r>
          </a:p>
        </p:txBody>
      </p:sp>
      <p:sp>
        <p:nvSpPr>
          <p:cNvPr id="32" name="method-divider">
            <a:extLst xmlns:a="http://schemas.openxmlformats.org/drawingml/2006/main">
              <a:ext uri="{FF2B5EF4-FFF2-40B4-BE49-F238E27FC236}">
                <a16:creationId xmlns:a16="http://schemas.microsoft.com/office/drawing/2014/main" id="{5D307EC4-0F7C-4791-A3B3-34290B2C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1051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3B2C1"/>
            </a:solidFill>
            <a:prstDash val="solid"/>
          </a:ln>
        </p:spPr>
      </p:sp>
      <p:sp>
        <p:nvSpPr>
          <p:cNvPr id="33" name="architecture-label">
            <a:extLst xmlns:a="http://schemas.openxmlformats.org/drawingml/2006/main">
              <a:ext uri="{FF2B5EF4-FFF2-40B4-BE49-F238E27FC236}">
                <a16:creationId xmlns:a16="http://schemas.microsoft.com/office/drawing/2014/main" id="{C4E8C6F9-5987-49A7-92BF-56791BCA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051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C0000"/>
                </a:solidFill>
                <a:latin typeface="Verdana"/>
                <a:ea typeface="Verdana"/>
                <a:cs typeface="Verdana"/>
              </a:defRPr>
            </a:pPr>
            <a:r>
              <a:rPr sz="1125" b="1">
                <a:solidFill>
                  <a:srgbClr val="CC0000"/>
                </a:solidFill>
                <a:latin typeface="Verdana"/>
                <a:ea typeface="Verdana"/>
                <a:cs typeface="Verdana"/>
              </a:rPr>
              <a:t>SYSTEM ARCHITECTURE</a:t>
            </a:r>
          </a:p>
        </p:txBody>
      </p:sp>
      <p:sp>
        <p:nvSpPr>
          <p:cNvPr id="34" name="architecture-caption">
            <a:extLst xmlns:a="http://schemas.openxmlformats.org/drawingml/2006/main">
              <a:ext uri="{FF2B5EF4-FFF2-40B4-BE49-F238E27FC236}">
                <a16:creationId xmlns:a16="http://schemas.microsoft.com/office/drawing/2014/main" id="{014BAE22-79FC-4A35-85B6-09803324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05125"/>
            <a:ext cx="449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06D"/>
                </a:solidFill>
                <a:latin typeface="Verdana"/>
                <a:ea typeface="Verdana"/>
                <a:cs typeface="Verdana"/>
              </a:defRPr>
            </a:pPr>
            <a:r>
              <a:rPr sz="1050">
                <a:solidFill>
                  <a:srgbClr val="52606D"/>
                </a:solidFill>
                <a:latin typeface="Verdana"/>
                <a:ea typeface="Verdana"/>
                <a:cs typeface="Verdana"/>
              </a:rPr>
              <a:t>Verified data flows forward; decisions remain auditable</a:t>
            </a:r>
          </a:p>
        </p:txBody>
      </p:sp>
      <p:sp>
        <p:nvSpPr>
          <p:cNvPr id="35" name="architecture-edge-1">
            <a:extLst xmlns:a="http://schemas.openxmlformats.org/drawingml/2006/main">
              <a:ext uri="{FF2B5EF4-FFF2-40B4-BE49-F238E27FC236}">
                <a16:creationId xmlns:a16="http://schemas.microsoft.com/office/drawing/2014/main" id="{17DB89E2-301A-4558-9D0C-82646363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14800"/>
            <a:ext cx="4000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F71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architecture-edge-2">
            <a:extLst xmlns:a="http://schemas.openxmlformats.org/drawingml/2006/main">
              <a:ext uri="{FF2B5EF4-FFF2-40B4-BE49-F238E27FC236}">
                <a16:creationId xmlns:a16="http://schemas.microsoft.com/office/drawing/2014/main" id="{174A1280-7362-47EE-ACE6-245087F7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14800"/>
            <a:ext cx="4000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F71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architecture-edge-3">
            <a:extLst xmlns:a="http://schemas.openxmlformats.org/drawingml/2006/main">
              <a:ext uri="{FF2B5EF4-FFF2-40B4-BE49-F238E27FC236}">
                <a16:creationId xmlns:a16="http://schemas.microsoft.com/office/drawing/2014/main" id="{0F53DDAB-D782-47F6-8D54-5B0DD62F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114800"/>
            <a:ext cx="4000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C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architecture-edge-4">
            <a:extLst xmlns:a="http://schemas.openxmlformats.org/drawingml/2006/main">
              <a:ext uri="{FF2B5EF4-FFF2-40B4-BE49-F238E27FC236}">
                <a16:creationId xmlns:a16="http://schemas.microsoft.com/office/drawing/2014/main" id="{1B805F52-A883-4039-8EAD-4E7D6859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114800"/>
            <a:ext cx="4000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F71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architecture-card-1">
            <a:extLst xmlns:a="http://schemas.openxmlformats.org/drawingml/2006/main">
              <a:ext uri="{FF2B5EF4-FFF2-40B4-BE49-F238E27FC236}">
                <a16:creationId xmlns:a16="http://schemas.microsoft.com/office/drawing/2014/main" id="{68B2F637-E1EB-4A71-B8C0-A8C1FA0A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76600"/>
            <a:ext cx="190500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A3B2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architecture-accent-1">
            <a:extLst xmlns:a="http://schemas.openxmlformats.org/drawingml/2006/main">
              <a:ext uri="{FF2B5EF4-FFF2-40B4-BE49-F238E27FC236}">
                <a16:creationId xmlns:a16="http://schemas.microsoft.com/office/drawing/2014/main" id="{527799C1-344C-426F-8812-5ECD5F91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76600"/>
            <a:ext cx="1905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1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architecture-number-1">
            <a:extLst xmlns:a="http://schemas.openxmlformats.org/drawingml/2006/main">
              <a:ext uri="{FF2B5EF4-FFF2-40B4-BE49-F238E27FC236}">
                <a16:creationId xmlns:a16="http://schemas.microsoft.com/office/drawing/2014/main" id="{684734C2-C95A-4CF7-8E6B-499F1A97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05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</a:t>
            </a:r>
          </a:p>
        </p:txBody>
      </p:sp>
      <p:sp>
        <p:nvSpPr>
          <p:cNvPr id="42" name="architecture-title-1">
            <a:extLst xmlns:a="http://schemas.openxmlformats.org/drawingml/2006/main">
              <a:ext uri="{FF2B5EF4-FFF2-40B4-BE49-F238E27FC236}">
                <a16:creationId xmlns:a16="http://schemas.microsoft.com/office/drawing/2014/main" id="{F5F36A32-F6B3-4674-A630-A9013E0F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24300"/>
            <a:ext cx="1600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F2937"/>
                </a:solidFill>
                <a:latin typeface="Verdana"/>
                <a:ea typeface="Verdana"/>
                <a:cs typeface="Verdana"/>
              </a:defRPr>
            </a:pPr>
            <a:r>
              <a:rPr sz="1275" b="1">
                <a:solidFill>
                  <a:srgbClr val="1F2937"/>
                </a:solidFill>
                <a:latin typeface="Verdana"/>
                <a:ea typeface="Verdana"/>
                <a:cs typeface="Verdana"/>
              </a:rPr>
              <a:t>SOURCE DATA</a:t>
            </a:r>
          </a:p>
        </p:txBody>
      </p:sp>
      <p:sp>
        <p:nvSpPr>
          <p:cNvPr id="43" name="architecture-body-1">
            <a:extLst xmlns:a="http://schemas.openxmlformats.org/drawingml/2006/main">
              <a:ext uri="{FF2B5EF4-FFF2-40B4-BE49-F238E27FC236}">
                <a16:creationId xmlns:a16="http://schemas.microsoft.com/office/drawing/2014/main" id="{A469B4FA-F211-4494-B923-2839D380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1600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088">
                <a:solidFill>
                  <a:srgbClr val="52606D"/>
                </a:solidFill>
                <a:latin typeface="Verdana"/>
                <a:ea typeface="Verdana"/>
                <a:cs typeface="Verdana"/>
              </a:defRPr>
            </a:pPr>
            <a:r>
              <a:rPr sz="1088">
                <a:solidFill>
                  <a:srgbClr val="52606D"/>
                </a:solidFill>
                <a:latin typeface="Verdana"/>
                <a:ea typeface="Verdana"/>
                <a:cs typeface="Verdana"/>
              </a:rPr>
              <a:t>CSV / ERP exports</a:t>
            </a:r>
          </a:p>
          <a:p xmlns:a="http://schemas.openxmlformats.org/drawingml/2006/main">
            <a:pPr>
              <a:defRPr sz="1088">
                <a:solidFill>
                  <a:srgbClr val="52606D"/>
                </a:solidFill>
                <a:latin typeface="Verdana"/>
                <a:ea typeface="Verdana"/>
                <a:cs typeface="Verdana"/>
              </a:defRPr>
            </a:pPr>
            <a:r>
              <a:rPr sz="1088">
                <a:solidFill>
                  <a:srgbClr val="52606D"/>
                </a:solidFill>
                <a:latin typeface="Verdana"/>
                <a:ea typeface="Verdana"/>
                <a:cs typeface="Verdana"/>
              </a:rPr>
              <a:t>Purchase-order records</a:t>
            </a:r>
          </a:p>
        </p:txBody>
      </p:sp>
      <p:sp>
        <p:nvSpPr>
          <p:cNvPr id="44" name="architecture-card-2">
            <a:extLst xmlns:a="http://schemas.openxmlformats.org/drawingml/2006/main">
              <a:ext uri="{FF2B5EF4-FFF2-40B4-BE49-F238E27FC236}">
                <a16:creationId xmlns:a16="http://schemas.microsoft.com/office/drawing/2014/main" id="{F7ED4C36-ED20-4F07-8655-10DE56F5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276600"/>
            <a:ext cx="190500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A3B2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5" name="architecture-accent-2">
            <a:extLst xmlns:a="http://schemas.openxmlformats.org/drawingml/2006/main">
              <a:ext uri="{FF2B5EF4-FFF2-40B4-BE49-F238E27FC236}">
                <a16:creationId xmlns:a16="http://schemas.microsoft.com/office/drawing/2014/main" id="{15D3E4A9-2A27-447D-B29C-A96C286E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276600"/>
            <a:ext cx="1905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1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architecture-number-2">
            <a:extLst xmlns:a="http://schemas.openxmlformats.org/drawingml/2006/main">
              <a:ext uri="{FF2B5EF4-FFF2-40B4-BE49-F238E27FC236}">
                <a16:creationId xmlns:a16="http://schemas.microsoft.com/office/drawing/2014/main" id="{6625CCD7-108F-4EAA-AD95-501F285C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476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05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2</a:t>
            </a:r>
          </a:p>
        </p:txBody>
      </p:sp>
      <p:sp>
        <p:nvSpPr>
          <p:cNvPr id="47" name="architecture-title-2">
            <a:extLst xmlns:a="http://schemas.openxmlformats.org/drawingml/2006/main">
              <a:ext uri="{FF2B5EF4-FFF2-40B4-BE49-F238E27FC236}">
                <a16:creationId xmlns:a16="http://schemas.microsoft.com/office/drawing/2014/main" id="{4390FA7C-36D3-40C3-BE7B-7A5C838C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24300"/>
            <a:ext cx="1600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F2937"/>
                </a:solidFill>
                <a:latin typeface="Verdana"/>
                <a:ea typeface="Verdana"/>
                <a:cs typeface="Verdana"/>
              </a:defRPr>
            </a:pPr>
            <a:r>
              <a:rPr sz="1275" b="1">
                <a:solidFill>
                  <a:srgbClr val="1F2937"/>
                </a:solidFill>
                <a:latin typeface="Verdana"/>
                <a:ea typeface="Verdana"/>
                <a:cs typeface="Verdana"/>
              </a:rPr>
              <a:t>DATA FOUNDATION</a:t>
            </a:r>
          </a:p>
        </p:txBody>
      </p:sp>
      <p:sp>
        <p:nvSpPr>
          <p:cNvPr id="48" name="architecture-body-2">
            <a:extLst xmlns:a="http://schemas.openxmlformats.org/drawingml/2006/main">
              <a:ext uri="{FF2B5EF4-FFF2-40B4-BE49-F238E27FC236}">
                <a16:creationId xmlns:a16="http://schemas.microsoft.com/office/drawing/2014/main" id="{79397F18-1F62-44DE-A7D3-689F16F4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381500"/>
            <a:ext cx="1600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088">
                <a:solidFill>
                  <a:srgbClr val="52606D"/>
                </a:solidFill>
                <a:latin typeface="Verdana"/>
                <a:ea typeface="Verdana"/>
                <a:cs typeface="Verdana"/>
              </a:defRPr>
            </a:pPr>
            <a:r>
              <a:rPr sz="1088">
                <a:solidFill>
                  <a:srgbClr val="52606D"/>
                </a:solidFill>
                <a:latin typeface="Verdana"/>
                <a:ea typeface="Verdana"/>
                <a:cs typeface="Verdana"/>
              </a:rPr>
              <a:t>Pydantic validation</a:t>
            </a:r>
          </a:p>
          <a:p xmlns:a="http://schemas.openxmlformats.org/drawingml/2006/main">
            <a:pPr>
              <a:defRPr sz="1088">
                <a:solidFill>
                  <a:srgbClr val="52606D"/>
                </a:solidFill>
                <a:latin typeface="Verdana"/>
                <a:ea typeface="Verdana"/>
                <a:cs typeface="Verdana"/>
              </a:defRPr>
            </a:pPr>
            <a:r>
              <a:rPr sz="1088">
                <a:solidFill>
                  <a:srgbClr val="52606D"/>
                </a:solidFill>
                <a:latin typeface="Verdana"/>
                <a:ea typeface="Verdana"/>
                <a:cs typeface="Verdana"/>
              </a:rPr>
              <a:t>PostgreSQL + Alembic</a:t>
            </a:r>
          </a:p>
        </p:txBody>
      </p:sp>
      <p:sp>
        <p:nvSpPr>
          <p:cNvPr id="49" name="architecture-card-3">
            <a:extLst xmlns:a="http://schemas.openxmlformats.org/drawingml/2006/main">
              <a:ext uri="{FF2B5EF4-FFF2-40B4-BE49-F238E27FC236}">
                <a16:creationId xmlns:a16="http://schemas.microsoft.com/office/drawing/2014/main" id="{36AA4610-1A5E-49DF-8344-C5F1EBC3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76600"/>
            <a:ext cx="1905000" cy="1847850"/>
          </a:xfrm>
          <a:prstGeom xmlns:a="http://schemas.openxmlformats.org/drawingml/2006/main" prst="roundRect">
            <a:avLst>
              <a:gd name="adj" fmla="val 6186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CC00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0" name="architecture-accent-3">
            <a:extLst xmlns:a="http://schemas.openxmlformats.org/drawingml/2006/main">
              <a:ext uri="{FF2B5EF4-FFF2-40B4-BE49-F238E27FC236}">
                <a16:creationId xmlns:a16="http://schemas.microsoft.com/office/drawing/2014/main" id="{FAA92734-24ED-45F1-A9A9-A74C88A0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76600"/>
            <a:ext cx="1905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architecture-number-3">
            <a:extLst xmlns:a="http://schemas.openxmlformats.org/drawingml/2006/main">
              <a:ext uri="{FF2B5EF4-FFF2-40B4-BE49-F238E27FC236}">
                <a16:creationId xmlns:a16="http://schemas.microsoft.com/office/drawing/2014/main" id="{33DF3D6F-3C2C-4DC3-B0DE-A722E779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76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05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</a:t>
            </a:r>
          </a:p>
        </p:txBody>
      </p:sp>
      <p:sp>
        <p:nvSpPr>
          <p:cNvPr id="52" name="architecture-title-3">
            <a:extLst xmlns:a="http://schemas.openxmlformats.org/drawingml/2006/main">
              <a:ext uri="{FF2B5EF4-FFF2-40B4-BE49-F238E27FC236}">
                <a16:creationId xmlns:a16="http://schemas.microsoft.com/office/drawing/2014/main" id="{0DF4FB9A-17A2-4797-BBAD-9BAF57BF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24300"/>
            <a:ext cx="1600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A90000"/>
                </a:solidFill>
                <a:latin typeface="Verdana"/>
                <a:ea typeface="Verdana"/>
                <a:cs typeface="Verdana"/>
              </a:defRPr>
            </a:pPr>
            <a:r>
              <a:rPr sz="1275" b="1">
                <a:solidFill>
                  <a:srgbClr val="A90000"/>
                </a:solidFill>
                <a:latin typeface="Verdana"/>
                <a:ea typeface="Verdana"/>
                <a:cs typeface="Verdana"/>
              </a:rPr>
              <a:t>ANALYTICS ENGINE</a:t>
            </a:r>
          </a:p>
        </p:txBody>
      </p:sp>
      <p:sp>
        <p:nvSpPr>
          <p:cNvPr id="53" name="architecture-body-3">
            <a:extLst xmlns:a="http://schemas.openxmlformats.org/drawingml/2006/main">
              <a:ext uri="{FF2B5EF4-FFF2-40B4-BE49-F238E27FC236}">
                <a16:creationId xmlns:a16="http://schemas.microsoft.com/office/drawing/2014/main" id="{432C9313-55C5-4A5F-BC70-F5749F49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81500"/>
            <a:ext cx="1600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088">
                <a:solidFill>
                  <a:srgbClr val="52606D"/>
                </a:solidFill>
                <a:latin typeface="Verdana"/>
                <a:ea typeface="Verdana"/>
                <a:cs typeface="Verdana"/>
              </a:defRPr>
            </a:pPr>
            <a:r>
              <a:rPr sz="1088">
                <a:solidFill>
                  <a:srgbClr val="52606D"/>
                </a:solidFill>
                <a:latin typeface="Verdana"/>
                <a:ea typeface="Verdana"/>
                <a:cs typeface="Verdana"/>
              </a:rPr>
              <a:t>Spend KPIs + benchmarks</a:t>
            </a:r>
          </a:p>
          <a:p xmlns:a="http://schemas.openxmlformats.org/drawingml/2006/main">
            <a:pPr>
              <a:defRPr sz="1088">
                <a:solidFill>
                  <a:srgbClr val="52606D"/>
                </a:solidFill>
                <a:latin typeface="Verdana"/>
                <a:ea typeface="Verdana"/>
                <a:cs typeface="Verdana"/>
              </a:defRPr>
            </a:pPr>
            <a:r>
              <a:rPr sz="1088">
                <a:solidFill>
                  <a:srgbClr val="52606D"/>
                </a:solidFill>
                <a:latin typeface="Verdana"/>
                <a:ea typeface="Verdana"/>
                <a:cs typeface="Verdana"/>
              </a:rPr>
              <a:t>Deterministic opportunities</a:t>
            </a:r>
          </a:p>
        </p:txBody>
      </p:sp>
      <p:sp>
        <p:nvSpPr>
          <p:cNvPr id="54" name="architecture-card-4">
            <a:extLst xmlns:a="http://schemas.openxmlformats.org/drawingml/2006/main">
              <a:ext uri="{FF2B5EF4-FFF2-40B4-BE49-F238E27FC236}">
                <a16:creationId xmlns:a16="http://schemas.microsoft.com/office/drawing/2014/main" id="{6ACEBFBB-FE5C-4B44-B8C8-2FD44830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76600"/>
            <a:ext cx="190500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A3B2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5" name="architecture-accent-4">
            <a:extLst xmlns:a="http://schemas.openxmlformats.org/drawingml/2006/main">
              <a:ext uri="{FF2B5EF4-FFF2-40B4-BE49-F238E27FC236}">
                <a16:creationId xmlns:a16="http://schemas.microsoft.com/office/drawing/2014/main" id="{95031890-00B9-45E4-86B0-511F0628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76600"/>
            <a:ext cx="1905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1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architecture-number-4">
            <a:extLst xmlns:a="http://schemas.openxmlformats.org/drawingml/2006/main">
              <a:ext uri="{FF2B5EF4-FFF2-40B4-BE49-F238E27FC236}">
                <a16:creationId xmlns:a16="http://schemas.microsoft.com/office/drawing/2014/main" id="{0C1FED5D-0170-4ED0-B8DB-E07E9AE6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76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05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4</a:t>
            </a:r>
          </a:p>
        </p:txBody>
      </p:sp>
      <p:sp>
        <p:nvSpPr>
          <p:cNvPr id="57" name="architecture-title-4">
            <a:extLst xmlns:a="http://schemas.openxmlformats.org/drawingml/2006/main">
              <a:ext uri="{FF2B5EF4-FFF2-40B4-BE49-F238E27FC236}">
                <a16:creationId xmlns:a16="http://schemas.microsoft.com/office/drawing/2014/main" id="{05E8CF2A-B0B6-438E-97D8-CCEE5614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924300"/>
            <a:ext cx="1600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F2937"/>
                </a:solidFill>
                <a:latin typeface="Verdana"/>
                <a:ea typeface="Verdana"/>
                <a:cs typeface="Verdana"/>
              </a:defRPr>
            </a:pPr>
            <a:r>
              <a:rPr sz="1275" b="1">
                <a:solidFill>
                  <a:srgbClr val="1F2937"/>
                </a:solidFill>
                <a:latin typeface="Verdana"/>
                <a:ea typeface="Verdana"/>
                <a:cs typeface="Verdana"/>
              </a:rPr>
              <a:t>API + AI GUARDRAIL</a:t>
            </a:r>
          </a:p>
        </p:txBody>
      </p:sp>
      <p:sp>
        <p:nvSpPr>
          <p:cNvPr id="58" name="architecture-body-4">
            <a:extLst xmlns:a="http://schemas.openxmlformats.org/drawingml/2006/main">
              <a:ext uri="{FF2B5EF4-FFF2-40B4-BE49-F238E27FC236}">
                <a16:creationId xmlns:a16="http://schemas.microsoft.com/office/drawing/2014/main" id="{172D052B-D69B-4EA3-B351-FA6F9073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381500"/>
            <a:ext cx="1600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088">
                <a:solidFill>
                  <a:srgbClr val="52606D"/>
                </a:solidFill>
                <a:latin typeface="Verdana"/>
                <a:ea typeface="Verdana"/>
                <a:cs typeface="Verdana"/>
              </a:defRPr>
            </a:pPr>
            <a:r>
              <a:rPr sz="1088">
                <a:solidFill>
                  <a:srgbClr val="52606D"/>
                </a:solidFill>
                <a:latin typeface="Verdana"/>
                <a:ea typeface="Verdana"/>
                <a:cs typeface="Verdana"/>
              </a:rPr>
              <a:t>FastAPI services</a:t>
            </a:r>
          </a:p>
          <a:p xmlns:a="http://schemas.openxmlformats.org/drawingml/2006/main">
            <a:pPr>
              <a:defRPr sz="1088">
                <a:solidFill>
                  <a:srgbClr val="52606D"/>
                </a:solidFill>
                <a:latin typeface="Verdana"/>
                <a:ea typeface="Verdana"/>
                <a:cs typeface="Verdana"/>
              </a:defRPr>
            </a:pPr>
            <a:r>
              <a:rPr sz="1088">
                <a:solidFill>
                  <a:srgbClr val="52606D"/>
                </a:solidFill>
                <a:latin typeface="Verdana"/>
                <a:ea typeface="Verdana"/>
                <a:cs typeface="Verdana"/>
              </a:rPr>
              <a:t>Verified context to the LLM</a:t>
            </a:r>
          </a:p>
        </p:txBody>
      </p:sp>
      <p:sp>
        <p:nvSpPr>
          <p:cNvPr id="59" name="architecture-card-5">
            <a:extLst xmlns:a="http://schemas.openxmlformats.org/drawingml/2006/main">
              <a:ext uri="{FF2B5EF4-FFF2-40B4-BE49-F238E27FC236}">
                <a16:creationId xmlns:a16="http://schemas.microsoft.com/office/drawing/2014/main" id="{77C377E3-1A49-4810-B194-09EE03BA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76600"/>
            <a:ext cx="190500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A3B2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0" name="architecture-accent-5">
            <a:extLst xmlns:a="http://schemas.openxmlformats.org/drawingml/2006/main">
              <a:ext uri="{FF2B5EF4-FFF2-40B4-BE49-F238E27FC236}">
                <a16:creationId xmlns:a16="http://schemas.microsoft.com/office/drawing/2014/main" id="{BAC41749-DC44-4830-83DA-2EBD9BEC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76600"/>
            <a:ext cx="1905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1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architecture-number-5">
            <a:extLst xmlns:a="http://schemas.openxmlformats.org/drawingml/2006/main">
              <a:ext uri="{FF2B5EF4-FFF2-40B4-BE49-F238E27FC236}">
                <a16:creationId xmlns:a16="http://schemas.microsoft.com/office/drawing/2014/main" id="{4905FC91-52E7-4F32-B608-ECE8AAFB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476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05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5</a:t>
            </a:r>
          </a:p>
        </p:txBody>
      </p:sp>
      <p:sp>
        <p:nvSpPr>
          <p:cNvPr id="62" name="architecture-title-5">
            <a:extLst xmlns:a="http://schemas.openxmlformats.org/drawingml/2006/main">
              <a:ext uri="{FF2B5EF4-FFF2-40B4-BE49-F238E27FC236}">
                <a16:creationId xmlns:a16="http://schemas.microsoft.com/office/drawing/2014/main" id="{D44EFE73-8E95-466B-8E2C-6B63CD62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924300"/>
            <a:ext cx="1600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F2937"/>
                </a:solidFill>
                <a:latin typeface="Verdana"/>
                <a:ea typeface="Verdana"/>
                <a:cs typeface="Verdana"/>
              </a:defRPr>
            </a:pPr>
            <a:r>
              <a:rPr sz="1275" b="1">
                <a:solidFill>
                  <a:srgbClr val="1F2937"/>
                </a:solidFill>
                <a:latin typeface="Verdana"/>
                <a:ea typeface="Verdana"/>
                <a:cs typeface="Verdana"/>
              </a:rPr>
              <a:t>PROCUREMENT UX</a:t>
            </a:r>
          </a:p>
        </p:txBody>
      </p:sp>
      <p:sp>
        <p:nvSpPr>
          <p:cNvPr id="63" name="architecture-body-5">
            <a:extLst xmlns:a="http://schemas.openxmlformats.org/drawingml/2006/main">
              <a:ext uri="{FF2B5EF4-FFF2-40B4-BE49-F238E27FC236}">
                <a16:creationId xmlns:a16="http://schemas.microsoft.com/office/drawing/2014/main" id="{0157D45A-CCD5-40D6-A43A-D7EDA9C9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381500"/>
            <a:ext cx="1600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088">
                <a:solidFill>
                  <a:srgbClr val="52606D"/>
                </a:solidFill>
                <a:latin typeface="Verdana"/>
                <a:ea typeface="Verdana"/>
                <a:cs typeface="Verdana"/>
              </a:defRPr>
            </a:pPr>
            <a:r>
              <a:rPr sz="1088">
                <a:solidFill>
                  <a:srgbClr val="52606D"/>
                </a:solidFill>
                <a:latin typeface="Verdana"/>
                <a:ea typeface="Verdana"/>
                <a:cs typeface="Verdana"/>
              </a:rPr>
              <a:t>React + Recharts</a:t>
            </a:r>
          </a:p>
          <a:p xmlns:a="http://schemas.openxmlformats.org/drawingml/2006/main">
            <a:pPr>
              <a:defRPr sz="1088">
                <a:solidFill>
                  <a:srgbClr val="52606D"/>
                </a:solidFill>
                <a:latin typeface="Verdana"/>
                <a:ea typeface="Verdana"/>
                <a:cs typeface="Verdana"/>
              </a:defRPr>
            </a:pPr>
            <a:r>
              <a:rPr sz="1088">
                <a:solidFill>
                  <a:srgbClr val="52606D"/>
                </a:solidFill>
                <a:latin typeface="Verdana"/>
                <a:ea typeface="Verdana"/>
                <a:cs typeface="Verdana"/>
              </a:rPr>
              <a:t>Filters, review and action</a:t>
            </a:r>
          </a:p>
        </p:txBody>
      </p:sp>
      <p:sp>
        <p:nvSpPr>
          <p:cNvPr id="64" name="architecture-truth-bar">
            <a:extLst xmlns:a="http://schemas.openxmlformats.org/drawingml/2006/main">
              <a:ext uri="{FF2B5EF4-FFF2-40B4-BE49-F238E27FC236}">
                <a16:creationId xmlns:a16="http://schemas.microsoft.com/office/drawing/2014/main" id="{995C4905-1623-4903-8481-E21B7703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57800"/>
            <a:ext cx="104394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  <p:txBody>
          <a:bodyPr xmlns:a="http://schemas.openxmlformats.org/drawingml/2006/main" lIns="114300" tIns="19050" rIns="114300" bIns="19050" anchor="ctr"/>
          <a:lstStyle xmlns:a="http://schemas.openxmlformats.org/drawingml/2006/main"/>
          <a:p xmlns:a="http://schemas.openxmlformats.org/drawingml/2006/main">
            <a:pPr algn="ctr">
              <a:defRPr sz="1200">
                <a:latin typeface="Verdana"/>
                <a:ea typeface="Verdana"/>
                <a:cs typeface="Verdana"/>
              </a:defRPr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DETERMINISTIC ANALYTICS</a:t>
            </a:r>
            <a:r>
              <a:rPr sz="1200">
                <a:solidFill>
                  <a:srgbClr val="D9E0E6"/>
                </a:solidFill>
                <a:latin typeface="Verdana"/>
                <a:ea typeface="Verdana"/>
                <a:cs typeface="Verdana"/>
              </a:rPr>
              <a:t> calculates facts   •   </a:t>
            </a:r>
            <a:r>
              <a:rPr sz="1200" b="1">
                <a:solidFill>
                  <a:srgbClr val="FF6B6B"/>
                </a:solidFill>
                <a:latin typeface="Verdana"/>
                <a:ea typeface="Verdana"/>
                <a:cs typeface="Verdana"/>
              </a:rPr>
              <a:t>AI</a:t>
            </a:r>
            <a:r>
              <a:rPr sz="1200">
                <a:solidFill>
                  <a:srgbClr val="D9E0E6"/>
                </a:solidFill>
                <a:latin typeface="Verdana"/>
                <a:ea typeface="Verdana"/>
                <a:cs typeface="Verdana"/>
              </a:rPr>
              <a:t> explains verified context   •   </a:t>
            </a: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PEOPLE</a:t>
            </a:r>
            <a:r>
              <a:rPr sz="1200">
                <a:solidFill>
                  <a:srgbClr val="D9E0E6"/>
                </a:solidFill>
                <a:latin typeface="Verdana"/>
                <a:ea typeface="Verdana"/>
                <a:cs typeface="Verdana"/>
              </a:rPr>
              <a:t> decide</a:t>
            </a:r>
          </a:p>
        </p:txBody>
      </p:sp>
    </p:spTree>
    <p:extLst>
      <p:ext uri="{BB962C8B-B14F-4D97-AF65-F5344CB8AC3E}">
        <p14:creationId xmlns:p14="http://schemas.microsoft.com/office/powerpoint/2010/main" val="2851548109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0">
          <a:blip xmlns:r="http://schemas.openxmlformats.org/officeDocument/2006/relationships" r:embed="R0edcb390b39f4a49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599" y="211904"/>
            <a:ext cx="10668000" cy="66155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END-TO-END USE CASE – LIVE DEMO</a:t>
            </a:r>
            <a:endParaRPr sz="2800" b="1">
              <a:solidFill>
                <a:srgbClr val="FF0000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11" name="Content Placeholder 6"/>
          <p:cNvGraphicFramePr/>
          <p:nvPr/>
        </p:nvGraphicFramePr>
        <p:xfrm>
          <a:off xmlns:a="http://schemas.openxmlformats.org/drawingml/2006/main" x="812800" y="1802280"/>
          <a:ext xmlns:a="http://schemas.openxmlformats.org/drawingml/2006/main" cx="10617201" cy="2055201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0260"/>
                <a:gridCol w="2795968"/>
                <a:gridCol w="2485818"/>
                <a:gridCol w="2675155"/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Use Case Step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Module(s) Involved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Status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Notes</a:t>
                      </a:r>
                    </a:p>
                  </a:txBody>
                  <a:tcPr marL="91440" marR="91440" marT="45720" marB="45720"/>
                </a:tc>
              </a:tr>
              <a:tr h="399121">
                <a:tc>
                  <a:txBody>
                    <a:bodyPr/>
                    <a:lstStyle/>
                    <a:p>
                      <a:r>
                        <a:t>1. Import data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Pydantic</a:t>
                      </a:r>
                      <a:endParaRPr/>
                    </a:p>
                    <a:p>
                      <a:r>
                        <a:t>PostgreSQL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LIVE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47,128 rows</a:t>
                      </a:r>
                      <a:endParaRPr/>
                    </a:p>
                    <a:p>
                      <a:r>
                        <a:t>0 rejected</a:t>
                      </a:r>
                      <a:endParaRPr/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2. Run analytics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SQL services</a:t>
                      </a:r>
                      <a:endParaRPr/>
                    </a:p>
                    <a:p>
                      <a:r>
                        <a:t>Benchmarks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LIVE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$411.18M spend</a:t>
                      </a:r>
                      <a:endParaRPr/>
                    </a:p>
                    <a:p>
                      <a:r>
                        <a:t>50 benchmarks</a:t>
                      </a:r>
                      <a:endParaRPr/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3. Review actions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FastAPI</a:t>
                      </a:r>
                      <a:endParaRPr/>
                    </a:p>
                    <a:p>
                      <a:r>
                        <a:t>React • AI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LIVE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254 findings</a:t>
                      </a:r>
                      <a:endParaRPr/>
                    </a:p>
                    <a:p>
                      <a:r>
                        <a:t>$12.51M price</a:t>
                      </a:r>
                      <a:endParaRPr/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Review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Department of Computer Science and Engineering</a:t>
            </a: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5D98744-D6FD-47FD-ABDF-7C52B1EF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4100000"/>
            <a:ext cx="10965218" cy="22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/>
              <a:t>Demo outcome:</a:t>
            </a:r>
          </a:p>
          <a:p xmlns:a="http://schemas.openxmlformats.org/drawingml/2006/main">
            <a:pPr marL="18" indent="-10">
              <a:buChar char="•"/>
            </a:pPr>
            <a:r>
              <a:t>Dashboard and API use actual imported data.</a:t>
            </a:r>
          </a:p>
          <a:p xmlns:a="http://schemas.openxmlformats.org/drawingml/2006/main">
            <a:pPr marL="18" indent="-10">
              <a:buChar char="•"/>
            </a:pPr>
            <a:r>
              <a:t>Filters, pagination and opportunity details are live.</a:t>
            </a:r>
          </a:p>
          <a:p xmlns:a="http://schemas.openxmlformats.org/drawingml/2006/main">
            <a:pPr marL="18" indent="-10">
              <a:buChar char="•"/>
            </a:pPr>
            <a:r>
              <a:t>AI fallback remains safe when the provider is unavailable.</a:t>
            </a:r>
          </a:p>
          <a:p xmlns:a="http://schemas.openxmlformats.org/drawingml/2006/main">
            <a:pPr marL="18" indent="-10">
              <a:buChar char="•"/>
            </a:pPr>
            <a:r>
              <a:t>57 automated tests and the production frontend build passed.</a:t>
            </a:r>
          </a:p>
        </p:txBody>
      </p:sp>
    </p:spTree>
    <p:extLst>
      <p:ext uri="{BB962C8B-B14F-4D97-AF65-F5344CB8AC3E}">
        <p14:creationId xmlns:p14="http://schemas.microsoft.com/office/powerpoint/2010/main" val="765274792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0">
          <a:blip xmlns:r="http://schemas.openxmlformats.org/officeDocument/2006/relationships" r:embed="R3fa8b806533c4f0a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LITERATURE SURVEY </a:t>
            </a:r>
            <a:endParaRPr sz="2800" b="1">
              <a:solidFill>
                <a:srgbClr val="FF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" indent="-12">
              <a:buChar char="•"/>
            </a:pPr>
            <a:r>
              <a:t>Reviewed 16 papers published from 2021–2025.</a:t>
            </a:r>
          </a:p>
          <a:p xmlns:a="http://schemas.openxmlformats.org/drawingml/2006/main">
            <a:pPr marL="22" indent="-12">
              <a:buChar char="•"/>
            </a:pPr>
            <a:r>
              <a:t>Themes: procurement AI, spend classification, supplier selection, risk and LLMs.</a:t>
            </a:r>
          </a:p>
          <a:p xmlns:a="http://schemas.openxmlformats.org/drawingml/2006/main">
            <a:pPr marL="22" indent="-12">
              <a:buChar char="•"/>
            </a:pPr>
            <a:r>
              <a:t>Findings: explainability, data quality and practical adoption remain central.</a:t>
            </a:r>
          </a:p>
          <a:p xmlns:a="http://schemas.openxmlformats.org/drawingml/2006/main">
            <a:pPr marL="22" indent="-12">
              <a:buChar char="•"/>
            </a:pPr>
            <a:r>
              <a:t>Gap addressed: ProcureSight separates auditable calculations from validated narrative AI.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Review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Department of Computer Science and Engineering</a:t>
            </a: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34483171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0">
          <a:blip xmlns:r="http://schemas.openxmlformats.org/officeDocument/2006/relationships" r:embed="R4a5a8267d83041ff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599" y="211904"/>
            <a:ext cx="10668000" cy="66155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LITERATURE SURVEY (1/8)</a:t>
            </a:r>
            <a:endParaRPr sz="2800" b="1">
              <a:solidFill>
                <a:srgbClr val="FF0000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11" name="Content Placeholder 6"/>
          <p:cNvGraphicFramePr/>
          <p:nvPr/>
        </p:nvGraphicFramePr>
        <p:xfrm>
          <a:off xmlns:a="http://schemas.openxmlformats.org/drawingml/2006/main" x="812800" y="1802280"/>
          <a:ext xmlns:a="http://schemas.openxmlformats.org/drawingml/2006/main" cx="10617201" cy="1410041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60"/>
                <a:gridCol w="2795968"/>
                <a:gridCol w="2985818"/>
                <a:gridCol w="2675155"/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Author(s) / Year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Title of the Paper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Methodology / Approach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Inference</a:t>
                      </a:r>
                    </a:p>
                  </a:txBody>
                  <a:tcPr marL="91440" marR="91440" marT="45720" marB="45720"/>
                </a:tc>
              </a:tr>
              <a:tr h="399121">
                <a:tc>
                  <a:txBody>
                    <a:bodyPr/>
                    <a:lstStyle/>
                    <a:p>
                      <a:r>
                        <a:t>Toorajipour et al.</a:t>
                      </a:r>
                      <a:endParaRPr/>
                    </a:p>
                    <a:p>
                      <a:r>
                        <a:t>2021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AI in SCM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Systematic review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AI methods &amp; gaps</a:t>
                      </a:r>
                      <a:endParaRPr/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Pournader et al.</a:t>
                      </a:r>
                      <a:endParaRPr/>
                    </a:p>
                    <a:p>
                      <a:r>
                        <a:t>2021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AI applications in SCM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Bibliometric taxonomy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Research fragmented</a:t>
                      </a:r>
                      <a:endParaRPr/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Review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Department of Computer Science and Engineering</a:t>
            </a: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56F907D-EEA5-47B0-A3BE-A74A7FF9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683296"/>
            <a:ext cx="10965218" cy="16312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/>
              <a:t>Synthesis:</a:t>
            </a:r>
          </a:p>
          <a:p xmlns:a="http://schemas.openxmlformats.org/drawingml/2006/main">
            <a:pPr marL="18" indent="-10">
              <a:buChar char="•"/>
            </a:pPr>
            <a:r>
              <a:t>Field foundations: broad AI/SCM reviews define the landscape but do not deliver an auditable procurement product.</a:t>
            </a:r>
          </a:p>
        </p:txBody>
      </p:sp>
    </p:spTree>
    <p:extLst>
      <p:ext uri="{BB962C8B-B14F-4D97-AF65-F5344CB8AC3E}">
        <p14:creationId xmlns:p14="http://schemas.microsoft.com/office/powerpoint/2010/main" val="765274792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0">
          <a:blip xmlns:r="http://schemas.openxmlformats.org/officeDocument/2006/relationships" r:embed="Rf5d0f053e6464ffc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599" y="211904"/>
            <a:ext cx="10668000" cy="66155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LITERATURE SURVEY (2/8)</a:t>
            </a:r>
            <a:endParaRPr sz="2800" b="1">
              <a:solidFill>
                <a:srgbClr val="FF0000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11" name="Content Placeholder 6"/>
          <p:cNvGraphicFramePr/>
          <p:nvPr/>
        </p:nvGraphicFramePr>
        <p:xfrm>
          <a:off xmlns:a="http://schemas.openxmlformats.org/drawingml/2006/main" x="812800" y="1802280"/>
          <a:ext xmlns:a="http://schemas.openxmlformats.org/drawingml/2006/main" cx="10617201" cy="1410041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60"/>
                <a:gridCol w="2795968"/>
                <a:gridCol w="2985818"/>
                <a:gridCol w="2675155"/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Author(s) / Year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Title of the Paper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Methodology / Approach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Inference</a:t>
                      </a:r>
                    </a:p>
                  </a:txBody>
                  <a:tcPr marL="91440" marR="91440" marT="45720" marB="45720"/>
                </a:tc>
              </a:tr>
              <a:tr h="399121">
                <a:tc>
                  <a:txBody>
                    <a:bodyPr/>
                    <a:lstStyle/>
                    <a:p>
                      <a:r>
                        <a:t>Riahi et al.</a:t>
                      </a:r>
                      <a:endParaRPr/>
                    </a:p>
                    <a:p>
                      <a:r>
                        <a:t>2021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AI in supply chains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136-paper review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Process framework</a:t>
                      </a:r>
                      <a:endParaRPr/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Allal-Chérif et al.</a:t>
                      </a:r>
                      <a:endParaRPr/>
                    </a:p>
                    <a:p>
                      <a:r>
                        <a:t>2021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Intelligent purchasing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Five-platform cases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Maturity needed</a:t>
                      </a:r>
                      <a:endParaRPr/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Review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Department of Computer Science and Engineering</a:t>
            </a: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56F907D-EEA5-47B0-A3BE-A74A7FF9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683296"/>
            <a:ext cx="10965218" cy="16312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/>
              <a:t>Synthesis:</a:t>
            </a:r>
          </a:p>
          <a:p xmlns:a="http://schemas.openxmlformats.org/drawingml/2006/main">
            <a:pPr marL="18" indent="-10">
              <a:buChar char="•"/>
            </a:pPr>
            <a:r>
              <a:t>Decision support must connect analytics to procurement processes while preserving human judgment.</a:t>
            </a:r>
          </a:p>
        </p:txBody>
      </p:sp>
    </p:spTree>
    <p:extLst>
      <p:ext uri="{BB962C8B-B14F-4D97-AF65-F5344CB8AC3E}">
        <p14:creationId xmlns:p14="http://schemas.microsoft.com/office/powerpoint/2010/main" val="765274792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0">
          <a:blip xmlns:r="http://schemas.openxmlformats.org/officeDocument/2006/relationships" r:embed="Ra68c0b593b5a433c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599" y="211904"/>
            <a:ext cx="10668000" cy="66155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LITERATURE SURVEY (3/8)</a:t>
            </a:r>
            <a:endParaRPr sz="2800" b="1">
              <a:solidFill>
                <a:srgbClr val="FF0000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11" name="Content Placeholder 6"/>
          <p:cNvGraphicFramePr/>
          <p:nvPr/>
        </p:nvGraphicFramePr>
        <p:xfrm>
          <a:off xmlns:a="http://schemas.openxmlformats.org/drawingml/2006/main" x="812800" y="1802280"/>
          <a:ext xmlns:a="http://schemas.openxmlformats.org/drawingml/2006/main" cx="10617201" cy="1410041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60"/>
                <a:gridCol w="2795968"/>
                <a:gridCol w="2985818"/>
                <a:gridCol w="2675155"/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Author(s) / Year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Title of the Paper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Methodology / Approach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Inference</a:t>
                      </a:r>
                    </a:p>
                  </a:txBody>
                  <a:tcPr marL="91440" marR="91440" marT="45720" marB="45720"/>
                </a:tc>
              </a:tr>
              <a:tr h="399121">
                <a:tc>
                  <a:txBody>
                    <a:bodyPr/>
                    <a:lstStyle/>
                    <a:p>
                      <a:r>
                        <a:t>Guida et al.</a:t>
                      </a:r>
                      <a:endParaRPr/>
                    </a:p>
                    <a:p>
                      <a:r>
                        <a:t>2023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AI in procurement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Review + focus group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Benefits &amp; barriers</a:t>
                      </a:r>
                      <a:endParaRPr/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Spreitzenbarth</a:t>
                      </a:r>
                      <a:endParaRPr/>
                    </a:p>
                    <a:p>
                      <a:r>
                        <a:t>et al., 2024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AI/ML in purchasing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46 works; 20 interviews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Cost analysis gap</a:t>
                      </a:r>
                      <a:endParaRPr/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Review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Department of Computer Science and Engineering</a:t>
            </a: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56F907D-EEA5-47B0-A3BE-A74A7FF9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683296"/>
            <a:ext cx="10965218" cy="16312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/>
              <a:t>Synthesis:</a:t>
            </a:r>
          </a:p>
          <a:p xmlns:a="http://schemas.openxmlformats.org/drawingml/2006/main">
            <a:pPr marL="18" indent="-10">
              <a:buChar char="•"/>
            </a:pPr>
            <a:r>
              <a:t>Procurement-focused evidence supports AI assistance, but practical cost analysis and adoption still need work.</a:t>
            </a:r>
          </a:p>
        </p:txBody>
      </p:sp>
    </p:spTree>
    <p:extLst>
      <p:ext uri="{BB962C8B-B14F-4D97-AF65-F5344CB8AC3E}">
        <p14:creationId xmlns:p14="http://schemas.microsoft.com/office/powerpoint/2010/main" val="765274792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0">
          <a:blip xmlns:r="http://schemas.openxmlformats.org/officeDocument/2006/relationships" r:embed="Rfdbdc2b4e9e541b5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599" y="211904"/>
            <a:ext cx="10668000" cy="66155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LITERATURE SURVEY (4/8)</a:t>
            </a:r>
            <a:endParaRPr sz="2800" b="1">
              <a:solidFill>
                <a:srgbClr val="FF0000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11" name="Content Placeholder 6"/>
          <p:cNvGraphicFramePr/>
          <p:nvPr/>
        </p:nvGraphicFramePr>
        <p:xfrm>
          <a:off xmlns:a="http://schemas.openxmlformats.org/drawingml/2006/main" x="812800" y="1802280"/>
          <a:ext xmlns:a="http://schemas.openxmlformats.org/drawingml/2006/main" cx="10617201" cy="1410041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60"/>
                <a:gridCol w="2795968"/>
                <a:gridCol w="2985818"/>
                <a:gridCol w="2675155"/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Author(s) / Year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Title of the Paper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Methodology / Approach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Inference</a:t>
                      </a:r>
                    </a:p>
                  </a:txBody>
                  <a:tcPr marL="91440" marR="91440" marT="45720" marB="45720"/>
                </a:tc>
              </a:tr>
              <a:tr h="399121">
                <a:tc>
                  <a:txBody>
                    <a:bodyPr/>
                    <a:lstStyle/>
                    <a:p>
                      <a:r>
                        <a:t>Abdullahi et al.</a:t>
                      </a:r>
                      <a:endParaRPr/>
                    </a:p>
                    <a:p>
                      <a:r>
                        <a:t>2024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Spend categorization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TF-IDF + ML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SVM: 93% / 92%</a:t>
                      </a:r>
                      <a:endParaRPr/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Li et al.</a:t>
                      </a:r>
                      <a:endParaRPr/>
                    </a:p>
                    <a:p>
                      <a:r>
                        <a:t>2025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Automating procurement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NLP/ML classifier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Savings candidates</a:t>
                      </a:r>
                      <a:endParaRPr/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Review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Department of Computer Science and Engineering</a:t>
            </a: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56F907D-EEA5-47B0-A3BE-A74A7FF9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683296"/>
            <a:ext cx="10965218" cy="16312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/>
              <a:t>Synthesis:</a:t>
            </a:r>
          </a:p>
          <a:p xmlns:a="http://schemas.openxmlformats.org/drawingml/2006/main">
            <a:pPr marL="18" indent="-10">
              <a:buChar char="•"/>
            </a:pPr>
            <a:r>
              <a:t>Spend classification can be automated, but ProcureSight begins with already structured PO dimensions and focuses on auditable analysis.</a:t>
            </a:r>
          </a:p>
        </p:txBody>
      </p:sp>
    </p:spTree>
    <p:extLst>
      <p:ext uri="{BB962C8B-B14F-4D97-AF65-F5344CB8AC3E}">
        <p14:creationId xmlns:p14="http://schemas.microsoft.com/office/powerpoint/2010/main" val="765274792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0">
          <a:blip xmlns:r="http://schemas.openxmlformats.org/officeDocument/2006/relationships" r:embed="R270786a2596f4d1a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599" y="211904"/>
            <a:ext cx="10668000" cy="66155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LITERATURE SURVEY (5/8)</a:t>
            </a:r>
            <a:endParaRPr sz="2800" b="1">
              <a:solidFill>
                <a:srgbClr val="FF0000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11" name="Content Placeholder 6"/>
          <p:cNvGraphicFramePr/>
          <p:nvPr/>
        </p:nvGraphicFramePr>
        <p:xfrm>
          <a:off xmlns:a="http://schemas.openxmlformats.org/drawingml/2006/main" x="812800" y="1802280"/>
          <a:ext xmlns:a="http://schemas.openxmlformats.org/drawingml/2006/main" cx="10617201" cy="1410041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60"/>
                <a:gridCol w="2795968"/>
                <a:gridCol w="2985818"/>
                <a:gridCol w="2675155"/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Author(s) / Year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Title of the Paper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Methodology / Approach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Inference</a:t>
                      </a:r>
                    </a:p>
                  </a:txBody>
                  <a:tcPr marL="91440" marR="91440" marT="45720" marB="45720"/>
                </a:tc>
              </a:tr>
              <a:tr h="399121">
                <a:tc>
                  <a:txBody>
                    <a:bodyPr/>
                    <a:lstStyle/>
                    <a:p>
                      <a:r>
                        <a:t>Abdulla &amp; Bary.</a:t>
                      </a:r>
                      <a:endParaRPr/>
                    </a:p>
                    <a:p>
                      <a:r>
                        <a:t>2024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Explainable selection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Hybrid ML + MCDM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Transparent ranking</a:t>
                      </a:r>
                      <a:endParaRPr/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Gaida et al.</a:t>
                      </a:r>
                      <a:endParaRPr/>
                    </a:p>
                    <a:p>
                      <a:r>
                        <a:t>2022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Supplier selection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Logistic regression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Matches requirements</a:t>
                      </a:r>
                      <a:endParaRPr/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Review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Department of Computer Science and Engineering</a:t>
            </a: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56F907D-EEA5-47B0-A3BE-A74A7FF9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683296"/>
            <a:ext cx="10965218" cy="16312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/>
              <a:t>Synthesis:</a:t>
            </a:r>
          </a:p>
          <a:p xmlns:a="http://schemas.openxmlformats.org/drawingml/2006/main">
            <a:pPr marL="18" indent="-10">
              <a:buChar char="•"/>
            </a:pPr>
            <a:r>
              <a:t>Supplier recommendations are more usable when criteria and rankings remain transparent to procurement teams.</a:t>
            </a:r>
          </a:p>
        </p:txBody>
      </p:sp>
    </p:spTree>
    <p:extLst>
      <p:ext uri="{BB962C8B-B14F-4D97-AF65-F5344CB8AC3E}">
        <p14:creationId xmlns:p14="http://schemas.microsoft.com/office/powerpoint/2010/main" val="765274792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0">
          <a:blip xmlns:r="http://schemas.openxmlformats.org/officeDocument/2006/relationships" r:embed="R74e8b9c798074cb0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599" y="211904"/>
            <a:ext cx="10668000" cy="66155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LITERATURE SURVEY (6/8)</a:t>
            </a:r>
            <a:endParaRPr sz="2800" b="1">
              <a:solidFill>
                <a:srgbClr val="FF0000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11" name="Content Placeholder 6"/>
          <p:cNvGraphicFramePr/>
          <p:nvPr/>
        </p:nvGraphicFramePr>
        <p:xfrm>
          <a:off xmlns:a="http://schemas.openxmlformats.org/drawingml/2006/main" x="812800" y="1802280"/>
          <a:ext xmlns:a="http://schemas.openxmlformats.org/drawingml/2006/main" cx="10617201" cy="1410041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60"/>
                <a:gridCol w="2795968"/>
                <a:gridCol w="2985818"/>
                <a:gridCol w="2675155"/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Author(s) / Year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Title of the Paper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Methodology / Approach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Inference</a:t>
                      </a:r>
                    </a:p>
                  </a:txBody>
                  <a:tcPr marL="91440" marR="91440" marT="45720" marB="45720"/>
                </a:tc>
              </a:tr>
              <a:tr h="399121">
                <a:tc>
                  <a:txBody>
                    <a:bodyPr/>
                    <a:lstStyle/>
                    <a:p>
                      <a:r>
                        <a:t>Vassos et al.</a:t>
                      </a:r>
                      <a:endParaRPr/>
                    </a:p>
                    <a:p>
                      <a:r>
                        <a:t>2023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Procurement simulation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Events + bandits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Compares policies</a:t>
                      </a:r>
                      <a:endParaRPr/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Chauhan et al.</a:t>
                      </a:r>
                      <a:endParaRPr/>
                    </a:p>
                    <a:p>
                      <a:r>
                        <a:t>2022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Order assignment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MILP vs GA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Scalable allocation</a:t>
                      </a:r>
                      <a:endParaRPr/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Review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Department of Computer Science and Engineering</a:t>
            </a: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7921A4-25C4-3DB4-06B1-32693CEE2241}" type="slidenum">
              <a:t>14</a:t>
            </a:fld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56F907D-EEA5-47B0-A3BE-A74A7FF9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683296"/>
            <a:ext cx="10965218" cy="16312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/>
              <a:t>Synthesis:</a:t>
            </a:r>
          </a:p>
          <a:p xmlns:a="http://schemas.openxmlformats.org/drawingml/2006/main">
            <a:pPr marL="18" indent="-10">
              <a:buChar char="•"/>
            </a:pPr>
            <a:r>
              <a:t>Optimization and simulation extend beyond Phase 1; ProcureSight first establishes trusted analytics and explainable opportunities.</a:t>
            </a:r>
          </a:p>
        </p:txBody>
      </p:sp>
    </p:spTree>
    <p:extLst>
      <p:ext uri="{BB962C8B-B14F-4D97-AF65-F5344CB8AC3E}">
        <p14:creationId xmlns:p14="http://schemas.microsoft.com/office/powerpoint/2010/main" val="765274792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0">
          <a:blip xmlns:r="http://schemas.openxmlformats.org/officeDocument/2006/relationships" r:embed="Rf10d891f939b424a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599" y="211904"/>
            <a:ext cx="10668000" cy="66155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LITERATURE SURVEY (7/8)</a:t>
            </a:r>
            <a:endParaRPr sz="2800" b="1">
              <a:solidFill>
                <a:srgbClr val="FF0000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11" name="Content Placeholder 6"/>
          <p:cNvGraphicFramePr/>
          <p:nvPr/>
        </p:nvGraphicFramePr>
        <p:xfrm>
          <a:off xmlns:a="http://schemas.openxmlformats.org/drawingml/2006/main" x="812800" y="1802280"/>
          <a:ext xmlns:a="http://schemas.openxmlformats.org/drawingml/2006/main" cx="10617201" cy="1410041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60"/>
                <a:gridCol w="2795968"/>
                <a:gridCol w="2985818"/>
                <a:gridCol w="2675155"/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Author(s) / Year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Title of the Paper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Methodology / Approach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Inference</a:t>
                      </a:r>
                    </a:p>
                  </a:txBody>
                  <a:tcPr marL="91440" marR="91440" marT="45720" marB="45720"/>
                </a:tc>
              </a:tr>
              <a:tr h="399121">
                <a:tc>
                  <a:txBody>
                    <a:bodyPr/>
                    <a:lstStyle/>
                    <a:p>
                      <a:r>
                        <a:t>Bai &amp; Qiu, 2023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Fraud detection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NN; 50k samples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Flags audit events</a:t>
                      </a:r>
                      <a:endParaRPr/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Waseem et al.</a:t>
                      </a:r>
                      <a:endParaRPr/>
                    </a:p>
                    <a:p>
                      <a:r>
                        <a:t>2024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AI Procurement Assistant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LLM usability study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Better bid evaluation</a:t>
                      </a:r>
                      <a:endParaRPr/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Review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Department of Computer Science and Engineering</a:t>
            </a: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A83FA91-883A-0168-8075-96CEB9DCA3C2}" type="slidenum">
              <a:t>15</a:t>
            </a:fld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56F907D-EEA5-47B0-A3BE-A74A7FF9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683296"/>
            <a:ext cx="10965218" cy="16312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/>
              <a:t>Synthesis:</a:t>
            </a:r>
          </a:p>
          <a:p xmlns:a="http://schemas.openxmlformats.org/drawingml/2006/main">
            <a:pPr marL="18" indent="-10">
              <a:buChar char="•"/>
            </a:pPr>
            <a:r>
              <a:t>Procurement AI should surface review candidates rather than make unsupported autonomous decisions.</a:t>
            </a:r>
          </a:p>
        </p:txBody>
      </p:sp>
    </p:spTree>
    <p:extLst>
      <p:ext uri="{BB962C8B-B14F-4D97-AF65-F5344CB8AC3E}">
        <p14:creationId xmlns:p14="http://schemas.microsoft.com/office/powerpoint/2010/main" val="765274792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p="http://schemas.openxmlformats.org/presentationml/2006/main">
  <p:cSld>
    <p:bg>
      <p:bgPr>
        <a:blipFill xmlns:a="http://schemas.openxmlformats.org/drawingml/2006/main" rotWithShape="0">
          <a:blip xmlns:r="http://schemas.openxmlformats.org/officeDocument/2006/relationships" r:embed="R93f4264393d94509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6599" y="211904"/>
            <a:ext cx="10668000" cy="66155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LITERATURE SURVEY (8/8)</a:t>
            </a:r>
            <a:endParaRPr sz="2800" b="1">
              <a:solidFill>
                <a:srgbClr val="FF0000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11" name="Content Placeholder 6"/>
          <p:cNvGraphicFramePr/>
          <p:nvPr/>
        </p:nvGraphicFramePr>
        <p:xfrm>
          <a:off xmlns:a="http://schemas.openxmlformats.org/drawingml/2006/main" x="812800" y="1802280"/>
          <a:ext xmlns:a="http://schemas.openxmlformats.org/drawingml/2006/main" cx="10617201" cy="1410041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60"/>
                <a:gridCol w="2795968"/>
                <a:gridCol w="2985818"/>
                <a:gridCol w="2675155"/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Author(s) / Year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Title of the Paper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Methodology / Approach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Inference</a:t>
                      </a:r>
                    </a:p>
                  </a:txBody>
                  <a:tcPr marL="91440" marR="91440" marT="45720" marB="45720"/>
                </a:tc>
              </a:tr>
              <a:tr h="399121">
                <a:tc>
                  <a:txBody>
                    <a:bodyPr/>
                    <a:lstStyle/>
                    <a:p>
                      <a:r>
                        <a:t>Zhao &amp; Li, 2024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Tender RAG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GraphRAG; 1,406 docs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Better relevance</a:t>
                      </a:r>
                      <a:endParaRPr/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Srivastava et al.</a:t>
                      </a:r>
                      <a:endParaRPr/>
                    </a:p>
                    <a:p>
                      <a:r>
                        <a:t>2024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LLMs in SCM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BERT; papers + posts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Risk/contract themes</a:t>
                      </a:r>
                      <a:endParaRPr/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Review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Department of Computer Science and Engineering</a:t>
            </a: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9C7607-4BA3-B4DC-A00F-2E67A9FCFF7E}" type="slidenum">
              <a:t>16</a:t>
            </a:fld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56F907D-EEA5-47B0-A3BE-A74A7FF9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683296"/>
            <a:ext cx="10965218" cy="16312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/>
              <a:t>Synthesis:</a:t>
            </a:r>
          </a:p>
          <a:p xmlns:a="http://schemas.openxmlformats.org/drawingml/2006/main">
            <a:pPr marL="18" indent="-10">
              <a:buChar char="•"/>
            </a:pPr>
            <a:r>
              <a:t>ProcureSight follows the grounding principle: the LLM receives verified facts and never calculates prices or savings.</a:t>
            </a:r>
          </a:p>
        </p:txBody>
      </p:sp>
    </p:spTree>
    <p:extLst>
      <p:ext uri="{BB962C8B-B14F-4D97-AF65-F5344CB8AC3E}">
        <p14:creationId xmlns:p14="http://schemas.microsoft.com/office/powerpoint/2010/main" val="765274792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ACC349C-5BE6-7AA1-4EE3-C4AA5A3BB3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1200" y="3168074"/>
            <a:ext cx="10668000" cy="1216025"/>
          </a:xfr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000" b="1">
                <a:solidFill>
                  <a:srgbClr val="FF0000"/>
                </a:solidFill>
              </a:rPr>
              <a:t>Thank You</a:t>
            </a:r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778CC27A-14F7-85DD-1D33-35BB884643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F44F5F3-B604-7034-3991-F0917DEC10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90F7333B-44AC-F7E9-D49D-FE92F45E0477}" type="slidenum">
              <a:t>17</a:t>
            </a:fld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9920C7D-BD2C-F059-5056-8B99F4B2764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First Review</a:t>
            </a:r>
          </a:p>
        </p:txBody>
      </p:sp>
    </p:spTree>
    <p:extLst>
      <p:ext uri="{BB962C8B-B14F-4D97-AF65-F5344CB8AC3E}">
        <p14:creationId xmlns:p14="http://schemas.microsoft.com/office/powerpoint/2010/main" val="2273965067"/>
      </p:ext>
    </p:extLst>
  </p:cSld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Profile 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2026-08-27T07:33:11.7040000Z</dcterms:created>
  <dcterms:modified xsi:type="dcterms:W3CDTF">2026-08-27T07:33:11.7040000Z</dcterms:modified>
</coreProperties>
</file>